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77" r:id="rId2"/>
    <p:sldId id="257" r:id="rId3"/>
    <p:sldId id="271" r:id="rId4"/>
    <p:sldId id="272" r:id="rId5"/>
    <p:sldId id="259" r:id="rId6"/>
    <p:sldId id="273" r:id="rId7"/>
    <p:sldId id="260" r:id="rId8"/>
    <p:sldId id="261" r:id="rId9"/>
    <p:sldId id="274" r:id="rId10"/>
    <p:sldId id="275" r:id="rId11"/>
    <p:sldId id="276" r:id="rId12"/>
    <p:sldId id="279" r:id="rId13"/>
    <p:sldId id="265" r:id="rId14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1626" y="30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45EE2C-3245-4680-9C1E-5FA47D5388EA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4362D6-2CCC-4180-BBCE-291188C2C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999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960" y="7319010"/>
            <a:ext cx="1184291" cy="38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83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960" y="7319010"/>
            <a:ext cx="1184291" cy="38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216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960" y="7319010"/>
            <a:ext cx="1184291" cy="38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45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960" y="7319010"/>
            <a:ext cx="1184291" cy="38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786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960" y="7319010"/>
            <a:ext cx="1184291" cy="38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875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960" y="7319010"/>
            <a:ext cx="1184291" cy="38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732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960" y="7319010"/>
            <a:ext cx="1184291" cy="38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4241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960" y="7319010"/>
            <a:ext cx="1184291" cy="38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5814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960" y="7319010"/>
            <a:ext cx="1184291" cy="38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5966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70788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1371145"/>
          </a:xfrm>
        </p:spPr>
        <p:txBody>
          <a:bodyPr/>
          <a:lstStyle>
            <a:lvl1pPr>
              <a:defRPr sz="2310"/>
            </a:lvl1pPr>
            <a:lvl2pPr>
              <a:defRPr sz="1980"/>
            </a:lvl2pPr>
            <a:lvl3pPr>
              <a:defRPr sz="1650"/>
            </a:lvl3pPr>
            <a:lvl4pPr>
              <a:defRPr sz="1485"/>
            </a:lvl4pPr>
            <a:lvl5pPr>
              <a:defRPr sz="1485"/>
            </a:lvl5pPr>
            <a:lvl6pPr>
              <a:defRPr sz="1485"/>
            </a:lvl6pPr>
            <a:lvl7pPr>
              <a:defRPr sz="1485"/>
            </a:lvl7pPr>
            <a:lvl8pPr>
              <a:defRPr sz="1485"/>
            </a:lvl8pPr>
            <a:lvl9pPr>
              <a:defRPr sz="148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1371145"/>
          </a:xfrm>
        </p:spPr>
        <p:txBody>
          <a:bodyPr/>
          <a:lstStyle>
            <a:lvl1pPr>
              <a:defRPr sz="2310"/>
            </a:lvl1pPr>
            <a:lvl2pPr>
              <a:defRPr sz="1980"/>
            </a:lvl2pPr>
            <a:lvl3pPr>
              <a:defRPr sz="1650"/>
            </a:lvl3pPr>
            <a:lvl4pPr>
              <a:defRPr sz="1485"/>
            </a:lvl4pPr>
            <a:lvl5pPr>
              <a:defRPr sz="1485"/>
            </a:lvl5pPr>
            <a:lvl6pPr>
              <a:defRPr sz="1485"/>
            </a:lvl6pPr>
            <a:lvl7pPr>
              <a:defRPr sz="1485"/>
            </a:lvl7pPr>
            <a:lvl8pPr>
              <a:defRPr sz="1485"/>
            </a:lvl8pPr>
            <a:lvl9pPr>
              <a:defRPr sz="148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02920" y="7228332"/>
            <a:ext cx="2313432" cy="276999"/>
          </a:xfrm>
        </p:spPr>
        <p:txBody>
          <a:bodyPr/>
          <a:lstStyle/>
          <a:p>
            <a:fld id="{BA0D1651-45E6-4A2C-99B8-82F921298F2D}" type="datetime1">
              <a:rPr lang="en-US" smtClean="0"/>
              <a:t>10/13/2025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19856" y="7228332"/>
            <a:ext cx="3218688" cy="276999"/>
          </a:xfrm>
        </p:spPr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7242048" y="7228332"/>
            <a:ext cx="2313432" cy="276999"/>
          </a:xfrm>
        </p:spPr>
        <p:txBody>
          <a:bodyPr/>
          <a:lstStyle/>
          <a:p>
            <a:fld id="{C62155A9-2BEA-4E1A-A809-3AB570F0F12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816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jp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jp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jp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7.jpg"/><Relationship Id="rId4" Type="http://schemas.openxmlformats.org/officeDocument/2006/relationships/image" Target="../media/image24.png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uffescom.com/blog/how-to-create-a-rental-marketplace-platform" TargetMode="External"/><Relationship Id="rId3" Type="http://schemas.openxmlformats.org/officeDocument/2006/relationships/hyperlink" Target="https://papers.ssrn.com/sol3/papers.cfm?abstract_id=4660386" TargetMode="External"/><Relationship Id="rId7" Type="http://schemas.openxmlformats.org/officeDocument/2006/relationships/hyperlink" Target="https://www.codica.com/blog/how-to-build-a-rental-marketplace/" TargetMode="External"/><Relationship Id="rId12" Type="http://schemas.openxmlformats.org/officeDocument/2006/relationships/image" Target="../media/image7.jpg"/><Relationship Id="rId2" Type="http://schemas.openxmlformats.org/officeDocument/2006/relationships/hyperlink" Target="https://www.hbs.edu/faculty/Shared%20Documents/conferences/2016-dids/Fraigerber_Sundararajan_March2016.pdf" TargetMode="External"/><Relationship Id="rId1" Type="http://schemas.openxmlformats.org/officeDocument/2006/relationships/slideLayout" Target="../slideLayouts/slideLayout15.xml"/><Relationship Id="rId6" Type="http://schemas.openxmlformats.org/officeDocument/2006/relationships/hyperlink" Target="https://alameenedu.co.in/pdf/mainprojects_2024/P18AT22M015020.pdf" TargetMode="External"/><Relationship Id="rId11" Type="http://schemas.openxmlformats.org/officeDocument/2006/relationships/hyperlink" Target="https://www.futuremarketinsights.com/reports/online-home-rental-market" TargetMode="External"/><Relationship Id="rId5" Type="http://schemas.openxmlformats.org/officeDocument/2006/relationships/hyperlink" Target="https://www.ijert.org/peer-to-peer-online-rental-platform" TargetMode="External"/><Relationship Id="rId10" Type="http://schemas.openxmlformats.org/officeDocument/2006/relationships/hyperlink" Target="https://ijcrt.org/papers/IJCRT2104681.pdf" TargetMode="External"/><Relationship Id="rId4" Type="http://schemas.openxmlformats.org/officeDocument/2006/relationships/hyperlink" Target="https://papers.ssrn.com/sol3/papers.cfm?abstract_id=2574337" TargetMode="External"/><Relationship Id="rId9" Type="http://schemas.openxmlformats.org/officeDocument/2006/relationships/hyperlink" Target="https://secp.prabodhanamfoundation.org/csn/index.php/csn-secp/article/download/85/83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7.jp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9288" y="381000"/>
            <a:ext cx="3356471" cy="45761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08875" y="1248360"/>
            <a:ext cx="1840650" cy="285400"/>
          </a:xfrm>
          <a:prstGeom prst="rect">
            <a:avLst/>
          </a:prstGeom>
        </p:spPr>
        <p:txBody>
          <a:bodyPr vert="horz" wrap="square" lIns="0" tIns="8320" rIns="0" bIns="0" rtlCol="0" anchor="ctr">
            <a:spAutoFit/>
          </a:bodyPr>
          <a:lstStyle/>
          <a:p>
            <a:pPr marL="9245" algn="ctr">
              <a:spcBef>
                <a:spcPts val="65"/>
              </a:spcBef>
            </a:pPr>
            <a:r>
              <a:rPr lang="en-IN" sz="1800" spc="-7" dirty="0"/>
              <a:t>Zero</a:t>
            </a:r>
            <a:r>
              <a:rPr lang="en-IN" sz="1800" spc="-7" baseline="30000" dirty="0"/>
              <a:t>th</a:t>
            </a:r>
            <a:r>
              <a:rPr lang="en-IN" sz="1800" spc="-7" dirty="0"/>
              <a:t> Review</a:t>
            </a:r>
            <a:endParaRPr sz="1800" spc="-7"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1822266" y="2057400"/>
            <a:ext cx="6370513" cy="5303328"/>
          </a:xfrm>
          <a:prstGeom prst="rect">
            <a:avLst/>
          </a:prstGeom>
        </p:spPr>
        <p:txBody>
          <a:bodyPr vert="horz" wrap="square" lIns="0" tIns="12019" rIns="0" bIns="0" rtlCol="0">
            <a:spAutoFit/>
          </a:bodyPr>
          <a:lstStyle/>
          <a:p>
            <a:pPr algn="ctr">
              <a:spcBef>
                <a:spcPts val="95"/>
              </a:spcBef>
            </a:pPr>
            <a:r>
              <a:rPr lang="en-US" sz="1800" dirty="0"/>
              <a:t>LEEZ - A One-Stop Digital Rental Marketplace Platform</a:t>
            </a:r>
          </a:p>
          <a:p>
            <a:pPr algn="ctr">
              <a:spcBef>
                <a:spcPts val="95"/>
              </a:spcBef>
            </a:pPr>
            <a:endParaRPr lang="en-US" sz="1800" dirty="0"/>
          </a:p>
          <a:p>
            <a:pPr algn="ctr">
              <a:spcBef>
                <a:spcPts val="95"/>
              </a:spcBef>
            </a:pPr>
            <a:endParaRPr lang="en-IN" sz="1800" dirty="0">
              <a:solidFill>
                <a:srgbClr val="FF0000"/>
              </a:solidFill>
            </a:endParaRPr>
          </a:p>
          <a:p>
            <a:pPr algn="ctr">
              <a:spcBef>
                <a:spcPts val="95"/>
              </a:spcBef>
            </a:pPr>
            <a:endParaRPr lang="en-IN" sz="1800" dirty="0">
              <a:solidFill>
                <a:srgbClr val="FF0000"/>
              </a:solidFill>
            </a:endParaRPr>
          </a:p>
          <a:p>
            <a:pPr algn="ctr">
              <a:spcBef>
                <a:spcPts val="95"/>
              </a:spcBef>
            </a:pPr>
            <a:r>
              <a:rPr sz="1800" dirty="0">
                <a:solidFill>
                  <a:srgbClr val="FF0000"/>
                </a:solidFill>
              </a:rPr>
              <a:t>Presented</a:t>
            </a:r>
            <a:r>
              <a:rPr sz="1800" spc="59" dirty="0">
                <a:solidFill>
                  <a:srgbClr val="FF0000"/>
                </a:solidFill>
              </a:rPr>
              <a:t> </a:t>
            </a:r>
            <a:r>
              <a:rPr sz="1800" spc="-18" dirty="0">
                <a:solidFill>
                  <a:srgbClr val="FF0000"/>
                </a:solidFill>
              </a:rPr>
              <a:t>b</a:t>
            </a:r>
            <a:r>
              <a:rPr lang="en-US" sz="1800" spc="-18" dirty="0">
                <a:solidFill>
                  <a:srgbClr val="FF0000"/>
                </a:solidFill>
              </a:rPr>
              <a:t>y</a:t>
            </a:r>
            <a:endParaRPr lang="en-IN" sz="1800" spc="-18" dirty="0">
              <a:solidFill>
                <a:srgbClr val="FF0000"/>
              </a:solidFill>
            </a:endParaRPr>
          </a:p>
          <a:p>
            <a:pPr algn="ctr">
              <a:spcBef>
                <a:spcPts val="95"/>
              </a:spcBef>
            </a:pPr>
            <a:r>
              <a:rPr lang="en-IN" sz="1800" spc="-7" dirty="0">
                <a:solidFill>
                  <a:srgbClr val="17375E"/>
                </a:solidFill>
                <a:latin typeface="Palatino Linotype" panose="02040502050505030304" pitchFamily="18" charset="0"/>
              </a:rPr>
              <a:t>        </a:t>
            </a:r>
            <a:r>
              <a:rPr lang="en-IN" sz="1800" spc="-7" dirty="0" err="1">
                <a:solidFill>
                  <a:srgbClr val="17375E"/>
                </a:solidFill>
                <a:latin typeface="Palatino Linotype" panose="02040502050505030304" pitchFamily="18" charset="0"/>
              </a:rPr>
              <a:t>Bachala</a:t>
            </a:r>
            <a:r>
              <a:rPr lang="en-IN" sz="1800" spc="-7" dirty="0">
                <a:solidFill>
                  <a:srgbClr val="17375E"/>
                </a:solidFill>
                <a:latin typeface="Palatino Linotype" panose="02040502050505030304" pitchFamily="18" charset="0"/>
              </a:rPr>
              <a:t> Prudvi Satya Teja   (22A91A0565)</a:t>
            </a:r>
          </a:p>
          <a:p>
            <a:pPr algn="ctr">
              <a:spcBef>
                <a:spcPts val="546"/>
              </a:spcBef>
            </a:pPr>
            <a:r>
              <a:rPr lang="en-IN" sz="1800" spc="-7" dirty="0">
                <a:solidFill>
                  <a:srgbClr val="17375E"/>
                </a:solidFill>
                <a:latin typeface="Palatino Linotype" panose="02040502050505030304" pitchFamily="18" charset="0"/>
              </a:rPr>
              <a:t>        Etti S n v </a:t>
            </a:r>
            <a:r>
              <a:rPr lang="en-IN" sz="1800" spc="-7" dirty="0" err="1">
                <a:solidFill>
                  <a:srgbClr val="17375E"/>
                </a:solidFill>
                <a:latin typeface="Palatino Linotype" panose="02040502050505030304" pitchFamily="18" charset="0"/>
              </a:rPr>
              <a:t>v</a:t>
            </a:r>
            <a:r>
              <a:rPr lang="en-IN" sz="1800" spc="-7" dirty="0">
                <a:solidFill>
                  <a:srgbClr val="17375E"/>
                </a:solidFill>
                <a:latin typeface="Palatino Linotype" panose="02040502050505030304" pitchFamily="18" charset="0"/>
              </a:rPr>
              <a:t> Suchandra         (22A91A0571)</a:t>
            </a:r>
          </a:p>
          <a:p>
            <a:pPr algn="ctr">
              <a:spcBef>
                <a:spcPts val="546"/>
              </a:spcBef>
            </a:pPr>
            <a:r>
              <a:rPr lang="en-IN" sz="1800" spc="-7" dirty="0">
                <a:solidFill>
                  <a:srgbClr val="17375E"/>
                </a:solidFill>
                <a:latin typeface="Palatino Linotype" panose="02040502050505030304" pitchFamily="18" charset="0"/>
              </a:rPr>
              <a:t>         Sandip Pal                              (22A91A0561)</a:t>
            </a:r>
          </a:p>
          <a:p>
            <a:pPr marL="2774" algn="ctr">
              <a:spcBef>
                <a:spcPts val="546"/>
              </a:spcBef>
            </a:pPr>
            <a:endParaRPr lang="en-IN" sz="1800" spc="-7" dirty="0">
              <a:latin typeface="Palatino Linotype" panose="02040502050505030304" pitchFamily="18" charset="0"/>
            </a:endParaRPr>
          </a:p>
          <a:p>
            <a:pPr marL="2774" algn="ctr">
              <a:spcBef>
                <a:spcPts val="546"/>
              </a:spcBef>
            </a:pPr>
            <a:endParaRPr lang="en-IN" sz="1800" spc="-7" dirty="0">
              <a:latin typeface="Palatino Linotype" panose="02040502050505030304" pitchFamily="18" charset="0"/>
            </a:endParaRPr>
          </a:p>
          <a:p>
            <a:pPr algn="ctr">
              <a:spcBef>
                <a:spcPts val="724"/>
              </a:spcBef>
            </a:pPr>
            <a:r>
              <a:rPr sz="1800" dirty="0">
                <a:solidFill>
                  <a:srgbClr val="943735"/>
                </a:solidFill>
              </a:rPr>
              <a:t>Department</a:t>
            </a:r>
            <a:r>
              <a:rPr sz="1800" spc="-44" dirty="0">
                <a:solidFill>
                  <a:srgbClr val="943735"/>
                </a:solidFill>
              </a:rPr>
              <a:t> </a:t>
            </a:r>
            <a:r>
              <a:rPr sz="1800" dirty="0">
                <a:solidFill>
                  <a:srgbClr val="943735"/>
                </a:solidFill>
              </a:rPr>
              <a:t>of</a:t>
            </a:r>
            <a:r>
              <a:rPr sz="1800" spc="-21" dirty="0">
                <a:solidFill>
                  <a:srgbClr val="943735"/>
                </a:solidFill>
              </a:rPr>
              <a:t> </a:t>
            </a:r>
            <a:r>
              <a:rPr sz="1800" dirty="0">
                <a:solidFill>
                  <a:srgbClr val="943735"/>
                </a:solidFill>
              </a:rPr>
              <a:t>Computer</a:t>
            </a:r>
            <a:r>
              <a:rPr sz="1800" spc="-18" dirty="0">
                <a:solidFill>
                  <a:srgbClr val="943735"/>
                </a:solidFill>
              </a:rPr>
              <a:t> </a:t>
            </a:r>
            <a:r>
              <a:rPr sz="1800" dirty="0">
                <a:solidFill>
                  <a:srgbClr val="943735"/>
                </a:solidFill>
              </a:rPr>
              <a:t>Science</a:t>
            </a:r>
            <a:r>
              <a:rPr sz="1800" spc="-21" dirty="0">
                <a:solidFill>
                  <a:srgbClr val="943735"/>
                </a:solidFill>
              </a:rPr>
              <a:t> </a:t>
            </a:r>
            <a:r>
              <a:rPr sz="1800" dirty="0">
                <a:solidFill>
                  <a:srgbClr val="943735"/>
                </a:solidFill>
              </a:rPr>
              <a:t>&amp;</a:t>
            </a:r>
            <a:r>
              <a:rPr sz="1800" spc="-18" dirty="0">
                <a:solidFill>
                  <a:srgbClr val="943735"/>
                </a:solidFill>
              </a:rPr>
              <a:t> </a:t>
            </a:r>
            <a:r>
              <a:rPr sz="1800" spc="-7" dirty="0">
                <a:solidFill>
                  <a:srgbClr val="943735"/>
                </a:solidFill>
              </a:rPr>
              <a:t>Engineering</a:t>
            </a:r>
            <a:endParaRPr lang="en-IN" sz="1800" spc="-7" dirty="0">
              <a:solidFill>
                <a:srgbClr val="943735"/>
              </a:solidFill>
            </a:endParaRPr>
          </a:p>
          <a:p>
            <a:pPr algn="ctr">
              <a:spcBef>
                <a:spcPts val="724"/>
              </a:spcBef>
            </a:pPr>
            <a:endParaRPr lang="en-IN" sz="1800" spc="-7" dirty="0">
              <a:solidFill>
                <a:srgbClr val="943735"/>
              </a:solidFill>
            </a:endParaRPr>
          </a:p>
          <a:p>
            <a:pPr algn="ctr">
              <a:spcBef>
                <a:spcPts val="724"/>
              </a:spcBef>
            </a:pPr>
            <a:endParaRPr lang="en-IN" sz="1800" spc="-7" dirty="0">
              <a:solidFill>
                <a:srgbClr val="943735"/>
              </a:solidFill>
            </a:endParaRPr>
          </a:p>
          <a:p>
            <a:pPr algn="ctr">
              <a:spcBef>
                <a:spcPts val="724"/>
              </a:spcBef>
            </a:pPr>
            <a:r>
              <a:rPr lang="en-IN" sz="1800" spc="-7" dirty="0">
                <a:solidFill>
                  <a:srgbClr val="FF0000"/>
                </a:solidFill>
              </a:rPr>
              <a:t>Name of the Supervisor:</a:t>
            </a:r>
          </a:p>
          <a:p>
            <a:pPr algn="ctr">
              <a:spcBef>
                <a:spcPts val="724"/>
              </a:spcBef>
            </a:pPr>
            <a:r>
              <a:rPr lang="en-IN" sz="1800" spc="-15" dirty="0">
                <a:solidFill>
                  <a:srgbClr val="17375E"/>
                </a:solidFill>
              </a:rPr>
              <a:t>U.V Ramesh</a:t>
            </a:r>
          </a:p>
          <a:p>
            <a:pPr algn="ctr">
              <a:spcBef>
                <a:spcPts val="724"/>
              </a:spcBef>
            </a:pPr>
            <a:r>
              <a:rPr lang="en-IN" sz="1800" spc="-15" dirty="0">
                <a:solidFill>
                  <a:srgbClr val="17375E"/>
                </a:solidFill>
              </a:rPr>
              <a:t>Assistant Professor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45398" y="338610"/>
            <a:ext cx="3056255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b="1" dirty="0">
                <a:solidFill>
                  <a:srgbClr val="FFFFFF"/>
                </a:solidFill>
                <a:latin typeface="Palatino Linotype"/>
                <a:cs typeface="Palatino Linotype"/>
              </a:rPr>
              <a:t>OUT</a:t>
            </a:r>
            <a:r>
              <a:rPr sz="1950" b="1" spc="35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1950" b="1" dirty="0">
                <a:solidFill>
                  <a:srgbClr val="FFFFFF"/>
                </a:solidFill>
                <a:latin typeface="Palatino Linotype"/>
                <a:cs typeface="Palatino Linotype"/>
              </a:rPr>
              <a:t>LINE</a:t>
            </a:r>
            <a:r>
              <a:rPr sz="1950" b="1" spc="20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1950" b="1" dirty="0">
                <a:solidFill>
                  <a:srgbClr val="FFFFFF"/>
                </a:solidFill>
                <a:latin typeface="Palatino Linotype"/>
                <a:cs typeface="Palatino Linotype"/>
              </a:rPr>
              <a:t>OF</a:t>
            </a:r>
            <a:r>
              <a:rPr sz="1950" b="1" spc="70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1950" b="1" dirty="0">
                <a:solidFill>
                  <a:srgbClr val="FFFFFF"/>
                </a:solidFill>
                <a:latin typeface="Palatino Linotype"/>
                <a:cs typeface="Palatino Linotype"/>
              </a:rPr>
              <a:t>THE</a:t>
            </a:r>
            <a:r>
              <a:rPr sz="1950" b="1" spc="20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1950" b="1" spc="-20" dirty="0">
                <a:solidFill>
                  <a:srgbClr val="FFFFFF"/>
                </a:solidFill>
                <a:latin typeface="Palatino Linotype"/>
                <a:cs typeface="Palatino Linotype"/>
              </a:rPr>
              <a:t>TALK</a:t>
            </a:r>
            <a:endParaRPr sz="1950" dirty="0">
              <a:latin typeface="Palatino Linotype"/>
              <a:cs typeface="Palatino Linotyp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58220" y="1497893"/>
            <a:ext cx="3032125" cy="2594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1950" spc="-10" dirty="0">
                <a:latin typeface="Cambria"/>
                <a:cs typeface="Cambria"/>
              </a:rPr>
              <a:t>Abstract</a:t>
            </a:r>
            <a:endParaRPr sz="1950" dirty="0">
              <a:latin typeface="Cambria"/>
              <a:cs typeface="Cambria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1950" dirty="0">
                <a:latin typeface="Cambria"/>
                <a:cs typeface="Cambria"/>
              </a:rPr>
              <a:t>Introduction</a:t>
            </a:r>
            <a:endParaRPr sz="1950" dirty="0">
              <a:latin typeface="Cambria"/>
              <a:cs typeface="Cambria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1950" dirty="0">
                <a:latin typeface="Cambria"/>
                <a:cs typeface="Cambria"/>
              </a:rPr>
              <a:t>Literature Survey</a:t>
            </a:r>
            <a:endParaRPr sz="1950" dirty="0">
              <a:latin typeface="Cambria"/>
              <a:cs typeface="Cambria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1950" dirty="0">
                <a:latin typeface="Cambria"/>
                <a:cs typeface="Cambria"/>
              </a:rPr>
              <a:t>Problem Statement</a:t>
            </a:r>
            <a:endParaRPr sz="1950" dirty="0">
              <a:latin typeface="Cambria"/>
              <a:cs typeface="Cambria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1950" spc="50" dirty="0">
                <a:latin typeface="Cambria"/>
                <a:cs typeface="Cambria"/>
              </a:rPr>
              <a:t>Methodology</a:t>
            </a:r>
            <a:endParaRPr sz="1950" dirty="0">
              <a:latin typeface="Cambria"/>
              <a:cs typeface="Cambri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5731" y="1670947"/>
            <a:ext cx="3898531" cy="487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16"/>
              </a:lnSpc>
            </a:pPr>
            <a:r>
              <a:rPr lang="en-US" sz="3059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Abstract</a:t>
            </a:r>
            <a:endParaRPr lang="en-US" sz="3059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31" y="2567508"/>
            <a:ext cx="3358448" cy="3358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89882" y="2548028"/>
            <a:ext cx="2439457" cy="292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69"/>
              </a:lnSpc>
            </a:pPr>
            <a:r>
              <a:rPr lang="en-US" sz="1822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Bridging the Rental Gap</a:t>
            </a:r>
            <a:endParaRPr lang="en-US" sz="1822" dirty="0"/>
          </a:p>
        </p:txBody>
      </p:sp>
      <p:sp>
        <p:nvSpPr>
          <p:cNvPr id="5" name="Text 2"/>
          <p:cNvSpPr/>
          <p:nvPr/>
        </p:nvSpPr>
        <p:spPr>
          <a:xfrm>
            <a:off x="4289882" y="2996350"/>
            <a:ext cx="5227945" cy="498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9"/>
              </a:lnSpc>
            </a:pPr>
            <a:r>
              <a:rPr lang="en-US" sz="1203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LEEZ revolutionizes access to everyday items in Tier 2 &amp; 3 cities through a </a:t>
            </a:r>
            <a:r>
              <a:rPr lang="en-US" sz="1203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secure, transparent digital platform</a:t>
            </a:r>
            <a:r>
              <a:rPr lang="en-US" sz="1203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.</a:t>
            </a:r>
            <a:endParaRPr lang="en-US" sz="1203" dirty="0"/>
          </a:p>
        </p:txBody>
      </p:sp>
      <p:sp>
        <p:nvSpPr>
          <p:cNvPr id="6" name="Text 3"/>
          <p:cNvSpPr/>
          <p:nvPr/>
        </p:nvSpPr>
        <p:spPr>
          <a:xfrm>
            <a:off x="4289882" y="3635641"/>
            <a:ext cx="5227945" cy="249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35735" indent="-235735">
              <a:lnSpc>
                <a:spcPts val="1959"/>
              </a:lnSpc>
              <a:buSzPct val="100000"/>
              <a:buChar char="•"/>
            </a:pPr>
            <a:r>
              <a:rPr lang="en-US" sz="1203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Connects users with local verified vendors</a:t>
            </a:r>
            <a:endParaRPr lang="en-US" sz="1203" dirty="0"/>
          </a:p>
        </p:txBody>
      </p:sp>
      <p:sp>
        <p:nvSpPr>
          <p:cNvPr id="7" name="Text 4"/>
          <p:cNvSpPr/>
          <p:nvPr/>
        </p:nvSpPr>
        <p:spPr>
          <a:xfrm>
            <a:off x="4289882" y="3939653"/>
            <a:ext cx="5227945" cy="249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35735" indent="-235735">
              <a:lnSpc>
                <a:spcPts val="1959"/>
              </a:lnSpc>
              <a:buSzPct val="100000"/>
              <a:buChar char="•"/>
            </a:pPr>
            <a:r>
              <a:rPr lang="en-US" sz="1203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Commission-free model with simple listing fees</a:t>
            </a:r>
            <a:endParaRPr lang="en-US" sz="1203" dirty="0"/>
          </a:p>
        </p:txBody>
      </p:sp>
      <p:sp>
        <p:nvSpPr>
          <p:cNvPr id="8" name="Text 5"/>
          <p:cNvSpPr/>
          <p:nvPr/>
        </p:nvSpPr>
        <p:spPr>
          <a:xfrm>
            <a:off x="4289882" y="4243664"/>
            <a:ext cx="5227945" cy="249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35735" indent="-235735">
              <a:lnSpc>
                <a:spcPts val="1959"/>
              </a:lnSpc>
              <a:buSzPct val="100000"/>
              <a:buChar char="•"/>
            </a:pPr>
            <a:r>
              <a:rPr lang="en-US" sz="1203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Covers bikes, cars, furniture, electronics, appliances</a:t>
            </a:r>
            <a:endParaRPr lang="en-US" sz="1203" dirty="0"/>
          </a:p>
        </p:txBody>
      </p:sp>
      <p:sp>
        <p:nvSpPr>
          <p:cNvPr id="9" name="Text 6"/>
          <p:cNvSpPr/>
          <p:nvPr/>
        </p:nvSpPr>
        <p:spPr>
          <a:xfrm>
            <a:off x="4289882" y="4547675"/>
            <a:ext cx="5227945" cy="249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35735" indent="-235735">
              <a:lnSpc>
                <a:spcPts val="1959"/>
              </a:lnSpc>
              <a:buSzPct val="100000"/>
              <a:buChar char="•"/>
            </a:pPr>
            <a:r>
              <a:rPr lang="en-US" sz="1203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Web and mobile accessibility</a:t>
            </a:r>
            <a:endParaRPr lang="en-US" sz="1203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B960FB-E7B4-E9EC-8E37-5F8ED0CE08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0896" y="6322164"/>
            <a:ext cx="1367504" cy="3929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71621E-0E60-33FC-7458-EA95EEFFD5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7888" y="7254713"/>
            <a:ext cx="1657581" cy="476316"/>
          </a:xfrm>
          <a:prstGeom prst="rect">
            <a:avLst/>
          </a:prstGeom>
        </p:spPr>
      </p:pic>
      <p:pic>
        <p:nvPicPr>
          <p:cNvPr id="11" name="object 3">
            <a:extLst>
              <a:ext uri="{FF2B5EF4-FFF2-40B4-BE49-F238E27FC236}">
                <a16:creationId xmlns:a16="http://schemas.microsoft.com/office/drawing/2014/main" id="{95F91F20-6050-C151-006B-5F008A002D7E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7275"/>
            <a:ext cx="3771900" cy="5657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17631" y="1864207"/>
            <a:ext cx="3898531" cy="487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16"/>
              </a:lnSpc>
            </a:pPr>
            <a:r>
              <a:rPr lang="en-US" sz="3059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Introduction</a:t>
            </a:r>
            <a:endParaRPr lang="en-US" sz="3059" dirty="0"/>
          </a:p>
        </p:txBody>
      </p:sp>
      <p:sp>
        <p:nvSpPr>
          <p:cNvPr id="4" name="Text 1"/>
          <p:cNvSpPr/>
          <p:nvPr/>
        </p:nvSpPr>
        <p:spPr>
          <a:xfrm>
            <a:off x="4317631" y="2585353"/>
            <a:ext cx="5195040" cy="249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9"/>
              </a:lnSpc>
            </a:pPr>
            <a:r>
              <a:rPr lang="en-US" sz="1203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Why smaller cities need a rental revolution</a:t>
            </a:r>
            <a:endParaRPr lang="en-US" sz="1203" dirty="0"/>
          </a:p>
        </p:txBody>
      </p:sp>
      <p:sp>
        <p:nvSpPr>
          <p:cNvPr id="5" name="Shape 2"/>
          <p:cNvSpPr/>
          <p:nvPr/>
        </p:nvSpPr>
        <p:spPr>
          <a:xfrm>
            <a:off x="4317631" y="3010265"/>
            <a:ext cx="2519511" cy="1158500"/>
          </a:xfrm>
          <a:prstGeom prst="roundRect">
            <a:avLst>
              <a:gd name="adj" fmla="val 565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478805" y="3171439"/>
            <a:ext cx="1949224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91"/>
              </a:lnSpc>
            </a:pPr>
            <a:r>
              <a:rPr lang="en-US" sz="1512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Limited Access</a:t>
            </a:r>
            <a:endParaRPr lang="en-US" sz="1512" dirty="0"/>
          </a:p>
        </p:txBody>
      </p:sp>
      <p:sp>
        <p:nvSpPr>
          <p:cNvPr id="7" name="Text 4"/>
          <p:cNvSpPr/>
          <p:nvPr/>
        </p:nvSpPr>
        <p:spPr>
          <a:xfrm>
            <a:off x="4478804" y="3508601"/>
            <a:ext cx="2197165" cy="498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9"/>
              </a:lnSpc>
            </a:pPr>
            <a:r>
              <a:rPr lang="en-US" sz="1203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Residents struggle to find quality rental options locally</a:t>
            </a:r>
            <a:endParaRPr lang="en-US" sz="1203" dirty="0"/>
          </a:p>
        </p:txBody>
      </p:sp>
      <p:sp>
        <p:nvSpPr>
          <p:cNvPr id="8" name="Shape 5"/>
          <p:cNvSpPr/>
          <p:nvPr/>
        </p:nvSpPr>
        <p:spPr>
          <a:xfrm>
            <a:off x="6993077" y="3010265"/>
            <a:ext cx="2519594" cy="1158500"/>
          </a:xfrm>
          <a:prstGeom prst="roundRect">
            <a:avLst>
              <a:gd name="adj" fmla="val 565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54251" y="3171439"/>
            <a:ext cx="1949224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91"/>
              </a:lnSpc>
            </a:pPr>
            <a:r>
              <a:rPr lang="en-US" sz="1512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Vendor Challenges</a:t>
            </a:r>
            <a:endParaRPr lang="en-US" sz="1512" dirty="0"/>
          </a:p>
        </p:txBody>
      </p:sp>
      <p:sp>
        <p:nvSpPr>
          <p:cNvPr id="10" name="Text 7"/>
          <p:cNvSpPr/>
          <p:nvPr/>
        </p:nvSpPr>
        <p:spPr>
          <a:xfrm>
            <a:off x="7154251" y="3508601"/>
            <a:ext cx="2197246" cy="498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9"/>
              </a:lnSpc>
            </a:pPr>
            <a:r>
              <a:rPr lang="en-US" sz="1203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Local businesses lack digital presence and reach</a:t>
            </a:r>
            <a:endParaRPr lang="en-US" sz="1203" dirty="0"/>
          </a:p>
        </p:txBody>
      </p:sp>
      <p:sp>
        <p:nvSpPr>
          <p:cNvPr id="11" name="Shape 8"/>
          <p:cNvSpPr/>
          <p:nvPr/>
        </p:nvSpPr>
        <p:spPr>
          <a:xfrm>
            <a:off x="4317631" y="4324701"/>
            <a:ext cx="5195040" cy="909005"/>
          </a:xfrm>
          <a:prstGeom prst="roundRect">
            <a:avLst>
              <a:gd name="adj" fmla="val 720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78805" y="4485874"/>
            <a:ext cx="1949224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91"/>
              </a:lnSpc>
            </a:pPr>
            <a:r>
              <a:rPr lang="en-US" sz="1512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Trust Deficit</a:t>
            </a:r>
            <a:endParaRPr lang="en-US" sz="1512" dirty="0"/>
          </a:p>
        </p:txBody>
      </p:sp>
      <p:sp>
        <p:nvSpPr>
          <p:cNvPr id="13" name="Text 10"/>
          <p:cNvSpPr/>
          <p:nvPr/>
        </p:nvSpPr>
        <p:spPr>
          <a:xfrm>
            <a:off x="4478804" y="4823036"/>
            <a:ext cx="4872693" cy="249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9"/>
              </a:lnSpc>
            </a:pPr>
            <a:r>
              <a:rPr lang="en-US" sz="1203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 transparent system for secure transactions</a:t>
            </a:r>
            <a:endParaRPr lang="en-US" sz="1203" dirty="0"/>
          </a:p>
        </p:txBody>
      </p:sp>
      <p:sp>
        <p:nvSpPr>
          <p:cNvPr id="14" name="Text 11"/>
          <p:cNvSpPr/>
          <p:nvPr/>
        </p:nvSpPr>
        <p:spPr>
          <a:xfrm>
            <a:off x="4317631" y="5409121"/>
            <a:ext cx="5195040" cy="498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9"/>
              </a:lnSpc>
            </a:pPr>
            <a:r>
              <a:rPr lang="en-US" sz="1203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LEEZ addresses these gaps</a:t>
            </a:r>
            <a:r>
              <a:rPr lang="en-US" sz="1203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by creating a trusted ecosystem that empowers both renters and vendors in underserved markets.</a:t>
            </a:r>
            <a:endParaRPr lang="en-US" sz="1203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DF5AC1E-2970-A915-860F-700E79EA2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0896" y="6322164"/>
            <a:ext cx="1367504" cy="39296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0D09E4B-44E9-7E9A-2623-C7393D3FC1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7888" y="7254713"/>
            <a:ext cx="1657581" cy="476316"/>
          </a:xfrm>
          <a:prstGeom prst="rect">
            <a:avLst/>
          </a:prstGeom>
        </p:spPr>
      </p:pic>
      <p:pic>
        <p:nvPicPr>
          <p:cNvPr id="17" name="object 3">
            <a:extLst>
              <a:ext uri="{FF2B5EF4-FFF2-40B4-BE49-F238E27FC236}">
                <a16:creationId xmlns:a16="http://schemas.microsoft.com/office/drawing/2014/main" id="{9A82401D-098D-996C-4918-F26365C5DFE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2962" y="1475966"/>
            <a:ext cx="7753759" cy="475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46"/>
              </a:lnSpc>
            </a:pPr>
            <a:r>
              <a:rPr lang="en-US" sz="2991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Literature Survey: Analysis of Existing Systems</a:t>
            </a:r>
            <a:endParaRPr lang="en-US" sz="2991" dirty="0"/>
          </a:p>
        </p:txBody>
      </p:sp>
      <p:sp>
        <p:nvSpPr>
          <p:cNvPr id="3" name="Shape 1"/>
          <p:cNvSpPr/>
          <p:nvPr/>
        </p:nvSpPr>
        <p:spPr>
          <a:xfrm>
            <a:off x="532962" y="2256294"/>
            <a:ext cx="8992478" cy="4042350"/>
          </a:xfrm>
          <a:prstGeom prst="roundRect">
            <a:avLst>
              <a:gd name="adj" fmla="val 158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8201" y="2261533"/>
            <a:ext cx="8982000" cy="43678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90533" y="2358122"/>
            <a:ext cx="2387478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91"/>
              </a:lnSpc>
            </a:pPr>
            <a:r>
              <a:rPr lang="en-US" sz="1169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Feature</a:t>
            </a:r>
            <a:endParaRPr lang="en-US" sz="1169" dirty="0"/>
          </a:p>
        </p:txBody>
      </p:sp>
      <p:sp>
        <p:nvSpPr>
          <p:cNvPr id="6" name="Text 4"/>
          <p:cNvSpPr/>
          <p:nvPr/>
        </p:nvSpPr>
        <p:spPr>
          <a:xfrm>
            <a:off x="3387753" y="2358122"/>
            <a:ext cx="2833919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91"/>
              </a:lnSpc>
            </a:pPr>
            <a:r>
              <a:rPr lang="en-US" sz="1169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Existing Competitors</a:t>
            </a:r>
            <a:endParaRPr lang="en-US" sz="1169" dirty="0"/>
          </a:p>
        </p:txBody>
      </p:sp>
      <p:sp>
        <p:nvSpPr>
          <p:cNvPr id="7" name="Text 5"/>
          <p:cNvSpPr/>
          <p:nvPr/>
        </p:nvSpPr>
        <p:spPr>
          <a:xfrm>
            <a:off x="6531412" y="2358122"/>
            <a:ext cx="2836538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91"/>
              </a:lnSpc>
            </a:pPr>
            <a:r>
              <a:rPr lang="en-US" sz="1169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Proposed System (LEEZ)</a:t>
            </a:r>
            <a:endParaRPr lang="en-US" sz="1169" dirty="0"/>
          </a:p>
        </p:txBody>
      </p:sp>
      <p:sp>
        <p:nvSpPr>
          <p:cNvPr id="8" name="Shape 6"/>
          <p:cNvSpPr/>
          <p:nvPr/>
        </p:nvSpPr>
        <p:spPr>
          <a:xfrm>
            <a:off x="538201" y="2698314"/>
            <a:ext cx="8982000" cy="6803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90533" y="2794904"/>
            <a:ext cx="2387478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91"/>
              </a:lnSpc>
            </a:pPr>
            <a:r>
              <a:rPr lang="en-US" sz="1169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Business Model</a:t>
            </a:r>
            <a:endParaRPr lang="en-US" sz="1169" dirty="0"/>
          </a:p>
        </p:txBody>
      </p:sp>
      <p:sp>
        <p:nvSpPr>
          <p:cNvPr id="10" name="Text 8"/>
          <p:cNvSpPr/>
          <p:nvPr/>
        </p:nvSpPr>
        <p:spPr>
          <a:xfrm>
            <a:off x="3387753" y="2794903"/>
            <a:ext cx="2833919" cy="487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91"/>
              </a:lnSpc>
            </a:pPr>
            <a:r>
              <a:rPr lang="en-US" sz="1169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Primarily commission-based and inventory-owned</a:t>
            </a:r>
            <a:endParaRPr lang="en-US" sz="1169" dirty="0"/>
          </a:p>
        </p:txBody>
      </p:sp>
      <p:sp>
        <p:nvSpPr>
          <p:cNvPr id="11" name="Text 9"/>
          <p:cNvSpPr/>
          <p:nvPr/>
        </p:nvSpPr>
        <p:spPr>
          <a:xfrm>
            <a:off x="6531412" y="2794903"/>
            <a:ext cx="2836538" cy="487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91"/>
              </a:lnSpc>
            </a:pPr>
            <a:r>
              <a:rPr lang="en-US" sz="1169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Zero-commission, listing fee-based model</a:t>
            </a:r>
            <a:endParaRPr lang="en-US" sz="1169" dirty="0"/>
          </a:p>
        </p:txBody>
      </p:sp>
      <p:sp>
        <p:nvSpPr>
          <p:cNvPr id="12" name="Shape 10"/>
          <p:cNvSpPr/>
          <p:nvPr/>
        </p:nvSpPr>
        <p:spPr>
          <a:xfrm>
            <a:off x="538201" y="3378697"/>
            <a:ext cx="8982000" cy="6803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90533" y="3475286"/>
            <a:ext cx="2387478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91"/>
              </a:lnSpc>
            </a:pPr>
            <a:r>
              <a:rPr lang="en-US" sz="1169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Market Focus</a:t>
            </a:r>
            <a:endParaRPr lang="en-US" sz="1169" dirty="0"/>
          </a:p>
        </p:txBody>
      </p:sp>
      <p:sp>
        <p:nvSpPr>
          <p:cNvPr id="14" name="Text 12"/>
          <p:cNvSpPr/>
          <p:nvPr/>
        </p:nvSpPr>
        <p:spPr>
          <a:xfrm>
            <a:off x="3387753" y="3475286"/>
            <a:ext cx="2833919" cy="487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91"/>
              </a:lnSpc>
            </a:pPr>
            <a:r>
              <a:rPr lang="en-US" sz="1169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Concentrated in Tier 1 metropolitan areas</a:t>
            </a:r>
            <a:endParaRPr lang="en-US" sz="1169" dirty="0"/>
          </a:p>
        </p:txBody>
      </p:sp>
      <p:sp>
        <p:nvSpPr>
          <p:cNvPr id="15" name="Text 13"/>
          <p:cNvSpPr/>
          <p:nvPr/>
        </p:nvSpPr>
        <p:spPr>
          <a:xfrm>
            <a:off x="6531412" y="3475286"/>
            <a:ext cx="2836538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91"/>
              </a:lnSpc>
            </a:pPr>
            <a:r>
              <a:rPr lang="en-US" sz="1169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Targeted at Tier 2 and Tier 3 cities</a:t>
            </a:r>
            <a:endParaRPr lang="en-US" sz="1169" dirty="0"/>
          </a:p>
        </p:txBody>
      </p:sp>
      <p:sp>
        <p:nvSpPr>
          <p:cNvPr id="16" name="Shape 14"/>
          <p:cNvSpPr/>
          <p:nvPr/>
        </p:nvSpPr>
        <p:spPr>
          <a:xfrm>
            <a:off x="538201" y="4059079"/>
            <a:ext cx="8982000" cy="43678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90533" y="4155668"/>
            <a:ext cx="2387478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91"/>
              </a:lnSpc>
            </a:pPr>
            <a:r>
              <a:rPr lang="en-US" sz="1169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Rental Categories</a:t>
            </a:r>
            <a:endParaRPr lang="en-US" sz="1169" dirty="0"/>
          </a:p>
        </p:txBody>
      </p:sp>
      <p:sp>
        <p:nvSpPr>
          <p:cNvPr id="18" name="Text 16"/>
          <p:cNvSpPr/>
          <p:nvPr/>
        </p:nvSpPr>
        <p:spPr>
          <a:xfrm>
            <a:off x="3387753" y="4155668"/>
            <a:ext cx="2833919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91"/>
              </a:lnSpc>
            </a:pPr>
            <a:r>
              <a:rPr lang="en-US" sz="1169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Often limited to specific domains</a:t>
            </a:r>
            <a:endParaRPr lang="en-US" sz="1169" dirty="0"/>
          </a:p>
        </p:txBody>
      </p:sp>
      <p:sp>
        <p:nvSpPr>
          <p:cNvPr id="19" name="Text 17"/>
          <p:cNvSpPr/>
          <p:nvPr/>
        </p:nvSpPr>
        <p:spPr>
          <a:xfrm>
            <a:off x="6531412" y="4155668"/>
            <a:ext cx="2836538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91"/>
              </a:lnSpc>
            </a:pPr>
            <a:r>
              <a:rPr lang="en-US" sz="1169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Wide range of rental categories</a:t>
            </a:r>
            <a:endParaRPr lang="en-US" sz="1169" dirty="0"/>
          </a:p>
        </p:txBody>
      </p:sp>
      <p:sp>
        <p:nvSpPr>
          <p:cNvPr id="20" name="Shape 18"/>
          <p:cNvSpPr/>
          <p:nvPr/>
        </p:nvSpPr>
        <p:spPr>
          <a:xfrm>
            <a:off x="538201" y="4495861"/>
            <a:ext cx="8982000" cy="6803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90533" y="4592449"/>
            <a:ext cx="2387478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91"/>
              </a:lnSpc>
            </a:pPr>
            <a:r>
              <a:rPr lang="en-US" sz="1169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Vendor Support</a:t>
            </a:r>
            <a:endParaRPr lang="en-US" sz="1169" dirty="0"/>
          </a:p>
        </p:txBody>
      </p:sp>
      <p:sp>
        <p:nvSpPr>
          <p:cNvPr id="22" name="Text 20"/>
          <p:cNvSpPr/>
          <p:nvPr/>
        </p:nvSpPr>
        <p:spPr>
          <a:xfrm>
            <a:off x="3387753" y="4592449"/>
            <a:ext cx="2833919" cy="487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91"/>
              </a:lnSpc>
            </a:pPr>
            <a:r>
              <a:rPr lang="en-US" sz="1169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Limited insights and feedback mechanisms</a:t>
            </a:r>
            <a:endParaRPr lang="en-US" sz="1169" dirty="0"/>
          </a:p>
        </p:txBody>
      </p:sp>
      <p:sp>
        <p:nvSpPr>
          <p:cNvPr id="23" name="Text 21"/>
          <p:cNvSpPr/>
          <p:nvPr/>
        </p:nvSpPr>
        <p:spPr>
          <a:xfrm>
            <a:off x="6531412" y="4592449"/>
            <a:ext cx="2836538" cy="487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91"/>
              </a:lnSpc>
            </a:pPr>
            <a:r>
              <a:rPr lang="en-US" sz="1169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Comprehensive data insights and vendor dashboard</a:t>
            </a:r>
            <a:endParaRPr lang="en-US" sz="1169" dirty="0"/>
          </a:p>
        </p:txBody>
      </p:sp>
      <p:sp>
        <p:nvSpPr>
          <p:cNvPr id="24" name="Shape 22"/>
          <p:cNvSpPr/>
          <p:nvPr/>
        </p:nvSpPr>
        <p:spPr>
          <a:xfrm>
            <a:off x="538201" y="5176242"/>
            <a:ext cx="8982000" cy="6803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90533" y="5272832"/>
            <a:ext cx="2387478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91"/>
              </a:lnSpc>
            </a:pPr>
            <a:r>
              <a:rPr lang="en-US" sz="1169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Trust Mechanisms</a:t>
            </a:r>
            <a:endParaRPr lang="en-US" sz="1169" dirty="0"/>
          </a:p>
        </p:txBody>
      </p:sp>
      <p:sp>
        <p:nvSpPr>
          <p:cNvPr id="26" name="Text 24"/>
          <p:cNvSpPr/>
          <p:nvPr/>
        </p:nvSpPr>
        <p:spPr>
          <a:xfrm>
            <a:off x="3387753" y="5272832"/>
            <a:ext cx="2833919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91"/>
              </a:lnSpc>
            </a:pPr>
            <a:r>
              <a:rPr lang="en-US" sz="1169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Basic verification systems</a:t>
            </a:r>
            <a:endParaRPr lang="en-US" sz="1169" dirty="0"/>
          </a:p>
        </p:txBody>
      </p:sp>
      <p:sp>
        <p:nvSpPr>
          <p:cNvPr id="27" name="Text 25"/>
          <p:cNvSpPr/>
          <p:nvPr/>
        </p:nvSpPr>
        <p:spPr>
          <a:xfrm>
            <a:off x="6531412" y="5272832"/>
            <a:ext cx="2836538" cy="487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91"/>
              </a:lnSpc>
            </a:pPr>
            <a:r>
              <a:rPr lang="en-US" sz="1169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Robust verification and user review ecosystem</a:t>
            </a:r>
            <a:endParaRPr lang="en-US" sz="1169" dirty="0"/>
          </a:p>
        </p:txBody>
      </p:sp>
      <p:sp>
        <p:nvSpPr>
          <p:cNvPr id="28" name="Shape 26"/>
          <p:cNvSpPr/>
          <p:nvPr/>
        </p:nvSpPr>
        <p:spPr>
          <a:xfrm>
            <a:off x="538201" y="5856624"/>
            <a:ext cx="8982000" cy="43678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90533" y="5953215"/>
            <a:ext cx="2387478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91"/>
              </a:lnSpc>
            </a:pPr>
            <a:r>
              <a:rPr lang="en-US" sz="1169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Economic Viability</a:t>
            </a:r>
            <a:endParaRPr lang="en-US" sz="1169" dirty="0"/>
          </a:p>
        </p:txBody>
      </p:sp>
      <p:sp>
        <p:nvSpPr>
          <p:cNvPr id="30" name="Text 28"/>
          <p:cNvSpPr/>
          <p:nvPr/>
        </p:nvSpPr>
        <p:spPr>
          <a:xfrm>
            <a:off x="3387753" y="5953215"/>
            <a:ext cx="2833919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91"/>
              </a:lnSpc>
            </a:pPr>
            <a:r>
              <a:rPr lang="en-US" sz="1169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High barriers for small vendors</a:t>
            </a:r>
            <a:endParaRPr lang="en-US" sz="1169" dirty="0"/>
          </a:p>
        </p:txBody>
      </p:sp>
      <p:sp>
        <p:nvSpPr>
          <p:cNvPr id="31" name="Text 29"/>
          <p:cNvSpPr/>
          <p:nvPr/>
        </p:nvSpPr>
        <p:spPr>
          <a:xfrm>
            <a:off x="6531412" y="5953215"/>
            <a:ext cx="2836538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91"/>
              </a:lnSpc>
            </a:pPr>
            <a:r>
              <a:rPr lang="en-US" sz="1169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Accessible model for local businesses</a:t>
            </a:r>
            <a:endParaRPr lang="en-US" sz="1169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B57829B-FCC8-08DB-F291-9EC3F7B92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0896" y="6322164"/>
            <a:ext cx="1367504" cy="39296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8F8BF5D-37F3-1D4A-6BCC-833F9FDA1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888" y="7254713"/>
            <a:ext cx="1657581" cy="476316"/>
          </a:xfrm>
          <a:prstGeom prst="rect">
            <a:avLst/>
          </a:prstGeom>
        </p:spPr>
      </p:pic>
      <p:pic>
        <p:nvPicPr>
          <p:cNvPr id="34" name="object 3">
            <a:extLst>
              <a:ext uri="{FF2B5EF4-FFF2-40B4-BE49-F238E27FC236}">
                <a16:creationId xmlns:a16="http://schemas.microsoft.com/office/drawing/2014/main" id="{6CBEA900-B2CC-D032-5A0C-6970F428FA1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5731" y="2308437"/>
            <a:ext cx="3898531" cy="487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16"/>
              </a:lnSpc>
            </a:pPr>
            <a:r>
              <a:rPr lang="en-US" sz="3059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Literature Survey</a:t>
            </a:r>
            <a:endParaRPr lang="en-US" sz="3059" dirty="0"/>
          </a:p>
        </p:txBody>
      </p:sp>
      <p:sp>
        <p:nvSpPr>
          <p:cNvPr id="3" name="Text 1"/>
          <p:cNvSpPr/>
          <p:nvPr/>
        </p:nvSpPr>
        <p:spPr>
          <a:xfrm>
            <a:off x="545731" y="2858096"/>
            <a:ext cx="3523632" cy="292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69"/>
              </a:lnSpc>
            </a:pPr>
            <a:r>
              <a:rPr lang="en-US" sz="1822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Existing Platforms &amp; Research Gap</a:t>
            </a:r>
            <a:endParaRPr lang="en-US" sz="1822" dirty="0"/>
          </a:p>
        </p:txBody>
      </p:sp>
      <p:sp>
        <p:nvSpPr>
          <p:cNvPr id="4" name="Text 2"/>
          <p:cNvSpPr/>
          <p:nvPr/>
        </p:nvSpPr>
        <p:spPr>
          <a:xfrm>
            <a:off x="545731" y="3540280"/>
            <a:ext cx="1949224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91"/>
              </a:lnSpc>
            </a:pPr>
            <a:r>
              <a:rPr lang="en-US" sz="1512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Zoomcar</a:t>
            </a:r>
            <a:endParaRPr lang="en-US" sz="1512" dirty="0"/>
          </a:p>
        </p:txBody>
      </p:sp>
      <p:sp>
        <p:nvSpPr>
          <p:cNvPr id="5" name="Text 3"/>
          <p:cNvSpPr/>
          <p:nvPr/>
        </p:nvSpPr>
        <p:spPr>
          <a:xfrm>
            <a:off x="545731" y="3877442"/>
            <a:ext cx="2859048" cy="498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9"/>
              </a:lnSpc>
            </a:pPr>
            <a:r>
              <a:rPr lang="en-US" sz="1203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Metro-focused, vehicle-only, high commission model</a:t>
            </a:r>
            <a:endParaRPr lang="en-US" sz="1203" dirty="0"/>
          </a:p>
        </p:txBody>
      </p:sp>
      <p:sp>
        <p:nvSpPr>
          <p:cNvPr id="6" name="Text 4"/>
          <p:cNvSpPr/>
          <p:nvPr/>
        </p:nvSpPr>
        <p:spPr>
          <a:xfrm>
            <a:off x="3599677" y="3540280"/>
            <a:ext cx="1949224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91"/>
              </a:lnSpc>
            </a:pPr>
            <a:r>
              <a:rPr lang="en-US" sz="1512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Rentomojo</a:t>
            </a:r>
            <a:endParaRPr lang="en-US" sz="1512" dirty="0"/>
          </a:p>
        </p:txBody>
      </p:sp>
      <p:sp>
        <p:nvSpPr>
          <p:cNvPr id="7" name="Text 5"/>
          <p:cNvSpPr/>
          <p:nvPr/>
        </p:nvSpPr>
        <p:spPr>
          <a:xfrm>
            <a:off x="3599677" y="3877442"/>
            <a:ext cx="2859048" cy="498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9"/>
              </a:lnSpc>
            </a:pPr>
            <a:r>
              <a:rPr lang="en-US" sz="1203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Furniture &amp; appliances, limited to major cities</a:t>
            </a:r>
            <a:endParaRPr lang="en-US" sz="1203" dirty="0"/>
          </a:p>
        </p:txBody>
      </p:sp>
      <p:sp>
        <p:nvSpPr>
          <p:cNvPr id="8" name="Text 6"/>
          <p:cNvSpPr/>
          <p:nvPr/>
        </p:nvSpPr>
        <p:spPr>
          <a:xfrm>
            <a:off x="6653622" y="3540280"/>
            <a:ext cx="1949224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91"/>
              </a:lnSpc>
            </a:pPr>
            <a:r>
              <a:rPr lang="en-US" sz="1512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Royal Brothers</a:t>
            </a:r>
            <a:endParaRPr lang="en-US" sz="1512" dirty="0"/>
          </a:p>
        </p:txBody>
      </p:sp>
      <p:sp>
        <p:nvSpPr>
          <p:cNvPr id="9" name="Text 7"/>
          <p:cNvSpPr/>
          <p:nvPr/>
        </p:nvSpPr>
        <p:spPr>
          <a:xfrm>
            <a:off x="6653622" y="3877442"/>
            <a:ext cx="2859048" cy="498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9"/>
              </a:lnSpc>
            </a:pPr>
            <a:r>
              <a:rPr lang="en-US" sz="1203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Two-wheeler focus, franchise-based expansion</a:t>
            </a:r>
            <a:endParaRPr lang="en-US" sz="1203" dirty="0"/>
          </a:p>
        </p:txBody>
      </p:sp>
      <p:sp>
        <p:nvSpPr>
          <p:cNvPr id="10" name="Shape 8"/>
          <p:cNvSpPr/>
          <p:nvPr/>
        </p:nvSpPr>
        <p:spPr>
          <a:xfrm>
            <a:off x="545731" y="4551849"/>
            <a:ext cx="8966940" cy="912115"/>
          </a:xfrm>
          <a:prstGeom prst="roundRect">
            <a:avLst>
              <a:gd name="adj" fmla="val 7181"/>
            </a:avLst>
          </a:prstGeom>
          <a:solidFill>
            <a:srgbClr val="CFE2DE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665" y="4767456"/>
            <a:ext cx="194898" cy="15593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2498" y="4746747"/>
            <a:ext cx="8304238" cy="498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9"/>
              </a:lnSpc>
            </a:pPr>
            <a:r>
              <a:rPr lang="en-US" sz="1203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Research Gap:</a:t>
            </a:r>
            <a:r>
              <a:rPr lang="en-US" sz="1203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No comprehensive platform serves Tier 2 &amp; 3 cities with multi-category rentals, vendor-friendly pricing, and local verification systems.</a:t>
            </a:r>
            <a:endParaRPr lang="en-US" sz="1203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E043B0D-9A47-ED0B-AF89-555303C41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0896" y="6322164"/>
            <a:ext cx="1367504" cy="3929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51D5757-749D-E983-E1DE-1E66E4CF1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7888" y="7254713"/>
            <a:ext cx="1657581" cy="476316"/>
          </a:xfrm>
          <a:prstGeom prst="rect">
            <a:avLst/>
          </a:prstGeom>
        </p:spPr>
      </p:pic>
      <p:pic>
        <p:nvPicPr>
          <p:cNvPr id="15" name="object 3">
            <a:extLst>
              <a:ext uri="{FF2B5EF4-FFF2-40B4-BE49-F238E27FC236}">
                <a16:creationId xmlns:a16="http://schemas.microsoft.com/office/drawing/2014/main" id="{85D3BE6E-EA62-419F-0423-65874E2CAEAB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7275"/>
            <a:ext cx="10058400" cy="19492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5731" y="3574005"/>
            <a:ext cx="3898531" cy="487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16"/>
              </a:lnSpc>
            </a:pPr>
            <a:r>
              <a:rPr lang="en-US" sz="3059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Problem Statement</a:t>
            </a:r>
            <a:endParaRPr lang="en-US" sz="3059" dirty="0"/>
          </a:p>
        </p:txBody>
      </p:sp>
      <p:sp>
        <p:nvSpPr>
          <p:cNvPr id="4" name="Shape 1"/>
          <p:cNvSpPr/>
          <p:nvPr/>
        </p:nvSpPr>
        <p:spPr>
          <a:xfrm>
            <a:off x="545731" y="4295150"/>
            <a:ext cx="4405461" cy="1852471"/>
          </a:xfrm>
          <a:prstGeom prst="roundRect">
            <a:avLst>
              <a:gd name="adj" fmla="val 5430"/>
            </a:avLst>
          </a:prstGeom>
          <a:solidFill>
            <a:srgbClr val="FFFFFF"/>
          </a:solidFill>
          <a:ln w="30480">
            <a:solidFill>
              <a:srgbClr val="43706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24776" y="4295150"/>
            <a:ext cx="83820" cy="1852471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/>
        </p:spPr>
      </p:sp>
      <p:sp>
        <p:nvSpPr>
          <p:cNvPr id="6" name="Text 3"/>
          <p:cNvSpPr/>
          <p:nvPr/>
        </p:nvSpPr>
        <p:spPr>
          <a:xfrm>
            <a:off x="785486" y="4472039"/>
            <a:ext cx="1949224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91"/>
              </a:lnSpc>
            </a:pPr>
            <a:r>
              <a:rPr lang="en-US" sz="1512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User Pain Points</a:t>
            </a:r>
            <a:endParaRPr lang="en-US" sz="1512" dirty="0"/>
          </a:p>
        </p:txBody>
      </p:sp>
      <p:sp>
        <p:nvSpPr>
          <p:cNvPr id="7" name="Text 4"/>
          <p:cNvSpPr/>
          <p:nvPr/>
        </p:nvSpPr>
        <p:spPr>
          <a:xfrm>
            <a:off x="785485" y="4809203"/>
            <a:ext cx="3988817" cy="249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35735" indent="-235735">
              <a:lnSpc>
                <a:spcPts val="1959"/>
              </a:lnSpc>
              <a:buSzPct val="100000"/>
              <a:buChar char="•"/>
            </a:pPr>
            <a:r>
              <a:rPr lang="en-US" sz="1203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Difficulty finding rental items in smaller cities</a:t>
            </a:r>
            <a:endParaRPr lang="en-US" sz="1203" dirty="0"/>
          </a:p>
        </p:txBody>
      </p:sp>
      <p:sp>
        <p:nvSpPr>
          <p:cNvPr id="8" name="Text 5"/>
          <p:cNvSpPr/>
          <p:nvPr/>
        </p:nvSpPr>
        <p:spPr>
          <a:xfrm>
            <a:off x="785485" y="5113215"/>
            <a:ext cx="3988817" cy="249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35735" indent="-235735">
              <a:lnSpc>
                <a:spcPts val="1959"/>
              </a:lnSpc>
              <a:buSzPct val="100000"/>
              <a:buChar char="•"/>
            </a:pPr>
            <a:r>
              <a:rPr lang="en-US" sz="1203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Lack of verified, trustworthy vendors</a:t>
            </a:r>
            <a:endParaRPr lang="en-US" sz="1203" dirty="0"/>
          </a:p>
        </p:txBody>
      </p:sp>
      <p:sp>
        <p:nvSpPr>
          <p:cNvPr id="9" name="Text 6"/>
          <p:cNvSpPr/>
          <p:nvPr/>
        </p:nvSpPr>
        <p:spPr>
          <a:xfrm>
            <a:off x="785485" y="5417225"/>
            <a:ext cx="3988817" cy="249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35735" indent="-235735">
              <a:lnSpc>
                <a:spcPts val="1959"/>
              </a:lnSpc>
              <a:buSzPct val="100000"/>
              <a:buChar char="•"/>
            </a:pPr>
            <a:r>
              <a:rPr lang="en-US" sz="1203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 centralized discovery platform</a:t>
            </a:r>
            <a:endParaRPr lang="en-US" sz="1203" dirty="0"/>
          </a:p>
        </p:txBody>
      </p:sp>
      <p:sp>
        <p:nvSpPr>
          <p:cNvPr id="10" name="Text 7"/>
          <p:cNvSpPr/>
          <p:nvPr/>
        </p:nvSpPr>
        <p:spPr>
          <a:xfrm>
            <a:off x="785485" y="5721236"/>
            <a:ext cx="3988817" cy="249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35735" indent="-235735">
              <a:lnSpc>
                <a:spcPts val="1959"/>
              </a:lnSpc>
              <a:buSzPct val="100000"/>
              <a:buChar char="•"/>
            </a:pPr>
            <a:r>
              <a:rPr lang="en-US" sz="1203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Safety concerns with transactions</a:t>
            </a:r>
            <a:endParaRPr lang="en-US" sz="1203" dirty="0"/>
          </a:p>
        </p:txBody>
      </p:sp>
      <p:sp>
        <p:nvSpPr>
          <p:cNvPr id="11" name="Shape 8"/>
          <p:cNvSpPr/>
          <p:nvPr/>
        </p:nvSpPr>
        <p:spPr>
          <a:xfrm>
            <a:off x="5107127" y="4295150"/>
            <a:ext cx="4405544" cy="1852471"/>
          </a:xfrm>
          <a:prstGeom prst="roundRect">
            <a:avLst>
              <a:gd name="adj" fmla="val 5430"/>
            </a:avLst>
          </a:prstGeom>
          <a:solidFill>
            <a:srgbClr val="FFFFFF"/>
          </a:solidFill>
          <a:ln w="30480">
            <a:solidFill>
              <a:srgbClr val="43706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86171" y="4295150"/>
            <a:ext cx="83820" cy="1852471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/>
        </p:spPr>
      </p:sp>
      <p:sp>
        <p:nvSpPr>
          <p:cNvPr id="13" name="Text 10"/>
          <p:cNvSpPr/>
          <p:nvPr/>
        </p:nvSpPr>
        <p:spPr>
          <a:xfrm>
            <a:off x="5346882" y="4472039"/>
            <a:ext cx="1949224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91"/>
              </a:lnSpc>
            </a:pPr>
            <a:r>
              <a:rPr lang="en-US" sz="1512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Vendor Challenges</a:t>
            </a:r>
            <a:endParaRPr lang="en-US" sz="1512" dirty="0"/>
          </a:p>
        </p:txBody>
      </p:sp>
      <p:sp>
        <p:nvSpPr>
          <p:cNvPr id="14" name="Text 11"/>
          <p:cNvSpPr/>
          <p:nvPr/>
        </p:nvSpPr>
        <p:spPr>
          <a:xfrm>
            <a:off x="5346882" y="4809203"/>
            <a:ext cx="3988899" cy="249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35735" indent="-235735">
              <a:lnSpc>
                <a:spcPts val="1959"/>
              </a:lnSpc>
              <a:buSzPct val="100000"/>
              <a:buChar char="•"/>
            </a:pPr>
            <a:r>
              <a:rPr lang="en-US" sz="1203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Limited digital visibility</a:t>
            </a:r>
            <a:endParaRPr lang="en-US" sz="1203" dirty="0"/>
          </a:p>
        </p:txBody>
      </p:sp>
      <p:sp>
        <p:nvSpPr>
          <p:cNvPr id="15" name="Text 12"/>
          <p:cNvSpPr/>
          <p:nvPr/>
        </p:nvSpPr>
        <p:spPr>
          <a:xfrm>
            <a:off x="5346882" y="5113215"/>
            <a:ext cx="3988899" cy="249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35735" indent="-235735">
              <a:lnSpc>
                <a:spcPts val="1959"/>
              </a:lnSpc>
              <a:buSzPct val="100000"/>
              <a:buChar char="•"/>
            </a:pPr>
            <a:r>
              <a:rPr lang="en-US" sz="1203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High commission fees on existing platforms</a:t>
            </a:r>
            <a:endParaRPr lang="en-US" sz="1203" dirty="0"/>
          </a:p>
        </p:txBody>
      </p:sp>
      <p:sp>
        <p:nvSpPr>
          <p:cNvPr id="16" name="Text 13"/>
          <p:cNvSpPr/>
          <p:nvPr/>
        </p:nvSpPr>
        <p:spPr>
          <a:xfrm>
            <a:off x="5346882" y="5417225"/>
            <a:ext cx="3988899" cy="249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35735" indent="-235735">
              <a:lnSpc>
                <a:spcPts val="1959"/>
              </a:lnSpc>
              <a:buSzPct val="100000"/>
              <a:buChar char="•"/>
            </a:pPr>
            <a:r>
              <a:rPr lang="en-US" sz="1203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 tools for inventory management</a:t>
            </a:r>
            <a:endParaRPr lang="en-US" sz="1203" dirty="0"/>
          </a:p>
        </p:txBody>
      </p:sp>
      <p:sp>
        <p:nvSpPr>
          <p:cNvPr id="17" name="Text 14"/>
          <p:cNvSpPr/>
          <p:nvPr/>
        </p:nvSpPr>
        <p:spPr>
          <a:xfrm>
            <a:off x="5346882" y="5721236"/>
            <a:ext cx="3988899" cy="249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35735" indent="-235735">
              <a:lnSpc>
                <a:spcPts val="1959"/>
              </a:lnSpc>
              <a:buSzPct val="100000"/>
              <a:buChar char="•"/>
            </a:pPr>
            <a:r>
              <a:rPr lang="en-US" sz="1203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Missing local customer base</a:t>
            </a:r>
            <a:endParaRPr lang="en-US" sz="1203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78E4899-E4C0-FAB7-DA08-F26592999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0896" y="6322164"/>
            <a:ext cx="1367504" cy="39296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7627CF2-CF71-ECC5-1EBC-0DF4445DEA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7888" y="7254713"/>
            <a:ext cx="1657581" cy="476316"/>
          </a:xfrm>
          <a:prstGeom prst="rect">
            <a:avLst/>
          </a:prstGeom>
        </p:spPr>
      </p:pic>
      <p:pic>
        <p:nvPicPr>
          <p:cNvPr id="20" name="object 3">
            <a:extLst>
              <a:ext uri="{FF2B5EF4-FFF2-40B4-BE49-F238E27FC236}">
                <a16:creationId xmlns:a16="http://schemas.microsoft.com/office/drawing/2014/main" id="{37F7D874-AAC2-87AB-BBC3-F3777BC6623D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532" y="1440359"/>
            <a:ext cx="5004561" cy="43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03"/>
              </a:lnSpc>
            </a:pPr>
            <a:r>
              <a:rPr lang="en-US" sz="2716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Methodology: Platform Workflow</a:t>
            </a:r>
            <a:endParaRPr lang="en-US" sz="2716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32" y="2154221"/>
            <a:ext cx="696509" cy="8358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3276" y="2293457"/>
            <a:ext cx="1741312" cy="217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5"/>
              </a:lnSpc>
            </a:pPr>
            <a:r>
              <a:rPr lang="en-US" sz="134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Registration</a:t>
            </a:r>
            <a:endParaRPr lang="en-US" sz="1341" dirty="0"/>
          </a:p>
        </p:txBody>
      </p:sp>
      <p:sp>
        <p:nvSpPr>
          <p:cNvPr id="5" name="Text 2"/>
          <p:cNvSpPr/>
          <p:nvPr/>
        </p:nvSpPr>
        <p:spPr>
          <a:xfrm>
            <a:off x="1323276" y="2594603"/>
            <a:ext cx="8247593" cy="22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53"/>
              </a:lnSpc>
            </a:pPr>
            <a:r>
              <a:rPr lang="en-US" sz="1066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Users &amp; vendors create verified accounts</a:t>
            </a:r>
            <a:endParaRPr lang="en-US" sz="1066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532" y="2990048"/>
            <a:ext cx="696509" cy="8358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3276" y="3129283"/>
            <a:ext cx="1741312" cy="217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5"/>
              </a:lnSpc>
            </a:pPr>
            <a:r>
              <a:rPr lang="en-US" sz="134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Listing</a:t>
            </a:r>
            <a:endParaRPr lang="en-US" sz="1341" dirty="0"/>
          </a:p>
        </p:txBody>
      </p:sp>
      <p:sp>
        <p:nvSpPr>
          <p:cNvPr id="8" name="Text 4"/>
          <p:cNvSpPr/>
          <p:nvPr/>
        </p:nvSpPr>
        <p:spPr>
          <a:xfrm>
            <a:off x="1323276" y="3430429"/>
            <a:ext cx="8247593" cy="22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53"/>
              </a:lnSpc>
            </a:pPr>
            <a:r>
              <a:rPr lang="en-US" sz="1066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Vendors upload items with details &amp; pricing</a:t>
            </a:r>
            <a:endParaRPr lang="en-US" sz="1066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532" y="3825873"/>
            <a:ext cx="696509" cy="83582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3276" y="3965109"/>
            <a:ext cx="1741312" cy="217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5"/>
              </a:lnSpc>
            </a:pPr>
            <a:r>
              <a:rPr lang="en-US" sz="134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Discovery</a:t>
            </a:r>
            <a:endParaRPr lang="en-US" sz="1341" dirty="0"/>
          </a:p>
        </p:txBody>
      </p:sp>
      <p:sp>
        <p:nvSpPr>
          <p:cNvPr id="11" name="Text 6"/>
          <p:cNvSpPr/>
          <p:nvPr/>
        </p:nvSpPr>
        <p:spPr>
          <a:xfrm>
            <a:off x="1323276" y="4266256"/>
            <a:ext cx="8247593" cy="22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53"/>
              </a:lnSpc>
            </a:pPr>
            <a:r>
              <a:rPr lang="en-US" sz="1066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Users search by category, location, availability</a:t>
            </a:r>
            <a:endParaRPr lang="en-US" sz="1066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532" y="4661700"/>
            <a:ext cx="696509" cy="83582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23276" y="4800935"/>
            <a:ext cx="1741312" cy="217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5"/>
              </a:lnSpc>
            </a:pPr>
            <a:r>
              <a:rPr lang="en-US" sz="134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Booking</a:t>
            </a:r>
            <a:endParaRPr lang="en-US" sz="1341" dirty="0"/>
          </a:p>
        </p:txBody>
      </p:sp>
      <p:sp>
        <p:nvSpPr>
          <p:cNvPr id="14" name="Text 8"/>
          <p:cNvSpPr/>
          <p:nvPr/>
        </p:nvSpPr>
        <p:spPr>
          <a:xfrm>
            <a:off x="1323276" y="5102081"/>
            <a:ext cx="8247593" cy="22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53"/>
              </a:lnSpc>
            </a:pPr>
            <a:r>
              <a:rPr lang="en-US" sz="1066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Secure reservation with payment gateway</a:t>
            </a:r>
            <a:endParaRPr lang="en-US" sz="1066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532" y="5497525"/>
            <a:ext cx="696509" cy="83582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23276" y="5636762"/>
            <a:ext cx="1741312" cy="217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5"/>
              </a:lnSpc>
            </a:pPr>
            <a:r>
              <a:rPr lang="en-US" sz="134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Feedback</a:t>
            </a:r>
            <a:endParaRPr lang="en-US" sz="1341" dirty="0"/>
          </a:p>
        </p:txBody>
      </p:sp>
      <p:sp>
        <p:nvSpPr>
          <p:cNvPr id="17" name="Text 10"/>
          <p:cNvSpPr/>
          <p:nvPr/>
        </p:nvSpPr>
        <p:spPr>
          <a:xfrm>
            <a:off x="1323276" y="5937908"/>
            <a:ext cx="8247593" cy="22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53"/>
              </a:lnSpc>
            </a:pPr>
            <a:r>
              <a:rPr lang="en-US" sz="1066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Review system builds trust &amp; credibility</a:t>
            </a:r>
            <a:endParaRPr lang="en-US" sz="1066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342ECEE-99B0-6D03-FD53-AEE2564AA1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0896" y="6322164"/>
            <a:ext cx="1367504" cy="39296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EF43C1A-9E0E-ECC9-94BF-50CCAA1832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7888" y="7254713"/>
            <a:ext cx="1657581" cy="476316"/>
          </a:xfrm>
          <a:prstGeom prst="rect">
            <a:avLst/>
          </a:prstGeom>
        </p:spPr>
      </p:pic>
      <p:pic>
        <p:nvPicPr>
          <p:cNvPr id="20" name="object 3">
            <a:extLst>
              <a:ext uri="{FF2B5EF4-FFF2-40B4-BE49-F238E27FC236}">
                <a16:creationId xmlns:a16="http://schemas.microsoft.com/office/drawing/2014/main" id="{35EA986E-4CA8-8918-396E-5B8921C701F8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6917" y="1416293"/>
            <a:ext cx="3263905" cy="407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97"/>
              </a:lnSpc>
            </a:pPr>
            <a:r>
              <a:rPr lang="en-US" sz="2543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System Architecture</a:t>
            </a:r>
            <a:endParaRPr lang="en-US" sz="2543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917" y="2085217"/>
            <a:ext cx="652715" cy="7832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0111" y="2215694"/>
            <a:ext cx="1631952" cy="203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82"/>
              </a:lnSpc>
            </a:pPr>
            <a:r>
              <a:rPr lang="en-US" sz="1272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User Layer</a:t>
            </a:r>
            <a:endParaRPr lang="en-US" sz="1272" dirty="0"/>
          </a:p>
        </p:txBody>
      </p:sp>
      <p:sp>
        <p:nvSpPr>
          <p:cNvPr id="5" name="Text 2"/>
          <p:cNvSpPr/>
          <p:nvPr/>
        </p:nvSpPr>
        <p:spPr>
          <a:xfrm>
            <a:off x="1240110" y="2497932"/>
            <a:ext cx="8361373" cy="208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15"/>
              </a:lnSpc>
            </a:pPr>
            <a:r>
              <a:rPr lang="en-US" sz="997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Renter &amp; vendor dashboards with responsive design</a:t>
            </a:r>
            <a:endParaRPr lang="en-US" sz="997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917" y="2868491"/>
            <a:ext cx="652715" cy="7832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40111" y="2998970"/>
            <a:ext cx="1631952" cy="203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82"/>
              </a:lnSpc>
            </a:pPr>
            <a:r>
              <a:rPr lang="en-US" sz="1272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API Gateway</a:t>
            </a:r>
            <a:endParaRPr lang="en-US" sz="1272" dirty="0"/>
          </a:p>
        </p:txBody>
      </p:sp>
      <p:sp>
        <p:nvSpPr>
          <p:cNvPr id="8" name="Text 4"/>
          <p:cNvSpPr/>
          <p:nvPr/>
        </p:nvSpPr>
        <p:spPr>
          <a:xfrm>
            <a:off x="1240110" y="3281206"/>
            <a:ext cx="8361373" cy="208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15"/>
              </a:lnSpc>
            </a:pPr>
            <a:r>
              <a:rPr lang="en-US" sz="997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RESTful APIs with JWT authentication &amp; authorization</a:t>
            </a:r>
            <a:endParaRPr lang="en-US" sz="997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917" y="3651766"/>
            <a:ext cx="652715" cy="7832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40111" y="3782245"/>
            <a:ext cx="1631952" cy="203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82"/>
              </a:lnSpc>
            </a:pPr>
            <a:r>
              <a:rPr lang="en-US" sz="1272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Business Logic</a:t>
            </a:r>
            <a:endParaRPr lang="en-US" sz="1272" dirty="0"/>
          </a:p>
        </p:txBody>
      </p:sp>
      <p:sp>
        <p:nvSpPr>
          <p:cNvPr id="11" name="Text 6"/>
          <p:cNvSpPr/>
          <p:nvPr/>
        </p:nvSpPr>
        <p:spPr>
          <a:xfrm>
            <a:off x="1240110" y="4064481"/>
            <a:ext cx="8361373" cy="208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15"/>
              </a:lnSpc>
            </a:pPr>
            <a:r>
              <a:rPr lang="en-US" sz="997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Core services: booking, search, reviews, analytics</a:t>
            </a:r>
            <a:endParaRPr lang="en-US" sz="997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917" y="4435041"/>
            <a:ext cx="652715" cy="7832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40111" y="4565519"/>
            <a:ext cx="1631952" cy="203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82"/>
              </a:lnSpc>
            </a:pPr>
            <a:r>
              <a:rPr lang="en-US" sz="1272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Layer</a:t>
            </a:r>
            <a:endParaRPr lang="en-US" sz="1272" dirty="0"/>
          </a:p>
        </p:txBody>
      </p:sp>
      <p:sp>
        <p:nvSpPr>
          <p:cNvPr id="14" name="Text 8"/>
          <p:cNvSpPr/>
          <p:nvPr/>
        </p:nvSpPr>
        <p:spPr>
          <a:xfrm>
            <a:off x="1240110" y="4847756"/>
            <a:ext cx="8361373" cy="208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15"/>
              </a:lnSpc>
            </a:pPr>
            <a:r>
              <a:rPr lang="en-US" sz="997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MongoDB clusters with optimized indexing</a:t>
            </a:r>
            <a:endParaRPr lang="en-US" sz="997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917" y="5218316"/>
            <a:ext cx="652715" cy="78327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40111" y="5348794"/>
            <a:ext cx="1631952" cy="203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82"/>
              </a:lnSpc>
            </a:pPr>
            <a:r>
              <a:rPr lang="en-US" sz="1272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External Services</a:t>
            </a:r>
            <a:endParaRPr lang="en-US" sz="1272" dirty="0"/>
          </a:p>
        </p:txBody>
      </p:sp>
      <p:sp>
        <p:nvSpPr>
          <p:cNvPr id="17" name="Text 10"/>
          <p:cNvSpPr/>
          <p:nvPr/>
        </p:nvSpPr>
        <p:spPr>
          <a:xfrm>
            <a:off x="1240110" y="5631032"/>
            <a:ext cx="8361373" cy="208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15"/>
              </a:lnSpc>
            </a:pPr>
            <a:r>
              <a:rPr lang="en-US" sz="997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Payment gateway, SMS, email notifications</a:t>
            </a:r>
            <a:endParaRPr lang="en-US" sz="997" dirty="0"/>
          </a:p>
        </p:txBody>
      </p:sp>
      <p:sp>
        <p:nvSpPr>
          <p:cNvPr id="18" name="Text 11"/>
          <p:cNvSpPr/>
          <p:nvPr/>
        </p:nvSpPr>
        <p:spPr>
          <a:xfrm>
            <a:off x="456917" y="6148439"/>
            <a:ext cx="9144566" cy="208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15"/>
              </a:lnSpc>
            </a:pPr>
            <a:r>
              <a:rPr lang="en-US" sz="997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Microservices-inspired architecture enabling independent scaling and maintenance of critical components</a:t>
            </a:r>
            <a:endParaRPr lang="en-US" sz="997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19495AD-E7E5-C518-4AED-92CC05DBD7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0896" y="6322164"/>
            <a:ext cx="1367504" cy="39296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0957D64-8B3E-23CE-34BF-8612681CAB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7888" y="7254713"/>
            <a:ext cx="1657581" cy="476316"/>
          </a:xfrm>
          <a:prstGeom prst="rect">
            <a:avLst/>
          </a:prstGeom>
        </p:spPr>
      </p:pic>
      <p:pic>
        <p:nvPicPr>
          <p:cNvPr id="21" name="object 3">
            <a:extLst>
              <a:ext uri="{FF2B5EF4-FFF2-40B4-BE49-F238E27FC236}">
                <a16:creationId xmlns:a16="http://schemas.microsoft.com/office/drawing/2014/main" id="{CD895B10-18A1-8CD7-FF6C-BDD1E78C464A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880" y="1538013"/>
            <a:ext cx="3378011" cy="422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00"/>
              </a:lnSpc>
            </a:pPr>
            <a:r>
              <a:rPr lang="en-US" sz="2647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Key Features</a:t>
            </a:r>
            <a:endParaRPr lang="en-US" sz="2647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79" y="2230427"/>
            <a:ext cx="405349" cy="4053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2880" y="2804644"/>
            <a:ext cx="1732634" cy="21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sz="1306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Multi-Category Listings</a:t>
            </a:r>
            <a:endParaRPr lang="en-US" sz="1306" dirty="0"/>
          </a:p>
        </p:txBody>
      </p:sp>
      <p:sp>
        <p:nvSpPr>
          <p:cNvPr id="5" name="Text 2"/>
          <p:cNvSpPr/>
          <p:nvPr/>
        </p:nvSpPr>
        <p:spPr>
          <a:xfrm>
            <a:off x="472880" y="3096704"/>
            <a:ext cx="4471846" cy="432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5"/>
              </a:lnSpc>
            </a:pPr>
            <a:r>
              <a:rPr lang="en-US" sz="103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Bikes, cars, furniture, electronics, home appliances in one unified platform</a:t>
            </a:r>
            <a:endParaRPr lang="en-US" sz="1031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3593" y="2230427"/>
            <a:ext cx="405349" cy="40534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13593" y="2804644"/>
            <a:ext cx="1689006" cy="21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sz="1306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Advanced Search</a:t>
            </a:r>
            <a:endParaRPr lang="en-US" sz="1306" dirty="0"/>
          </a:p>
        </p:txBody>
      </p:sp>
      <p:sp>
        <p:nvSpPr>
          <p:cNvPr id="8" name="Text 4"/>
          <p:cNvSpPr/>
          <p:nvPr/>
        </p:nvSpPr>
        <p:spPr>
          <a:xfrm>
            <a:off x="5113594" y="3096704"/>
            <a:ext cx="4471928" cy="216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5"/>
              </a:lnSpc>
            </a:pPr>
            <a:r>
              <a:rPr lang="en-US" sz="103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Intelligent filtering by location, price, availability, and category</a:t>
            </a:r>
            <a:endParaRPr lang="en-US" sz="1031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879" y="3799270"/>
            <a:ext cx="405349" cy="40534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2879" y="4373486"/>
            <a:ext cx="1689006" cy="21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sz="1306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Secure Booking</a:t>
            </a:r>
            <a:endParaRPr lang="en-US" sz="1306" dirty="0"/>
          </a:p>
        </p:txBody>
      </p:sp>
      <p:sp>
        <p:nvSpPr>
          <p:cNvPr id="11" name="Text 6"/>
          <p:cNvSpPr/>
          <p:nvPr/>
        </p:nvSpPr>
        <p:spPr>
          <a:xfrm>
            <a:off x="472880" y="4665546"/>
            <a:ext cx="4471846" cy="216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5"/>
              </a:lnSpc>
            </a:pPr>
            <a:r>
              <a:rPr lang="en-US" sz="103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Real-time availability, instant confirmations, automated scheduling</a:t>
            </a:r>
            <a:endParaRPr lang="en-US" sz="1031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3593" y="3799270"/>
            <a:ext cx="405349" cy="40534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13593" y="4373486"/>
            <a:ext cx="1689006" cy="21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sz="1306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 Chatbot &amp; Review System  </a:t>
            </a:r>
            <a:endParaRPr lang="en-US" sz="1306" dirty="0"/>
          </a:p>
        </p:txBody>
      </p:sp>
      <p:sp>
        <p:nvSpPr>
          <p:cNvPr id="14" name="Text 8"/>
          <p:cNvSpPr/>
          <p:nvPr/>
        </p:nvSpPr>
        <p:spPr>
          <a:xfrm>
            <a:off x="5113594" y="4665546"/>
            <a:ext cx="4471928" cy="216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5"/>
              </a:lnSpc>
            </a:pPr>
            <a:r>
              <a:rPr lang="en-US" sz="103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AI Assistant &amp; Verified ratings building trust and accountability</a:t>
            </a:r>
            <a:endParaRPr lang="en-US" sz="1031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879" y="5151931"/>
            <a:ext cx="405349" cy="40534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72879" y="5726148"/>
            <a:ext cx="1689006" cy="21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sz="1306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Vendor Dashboard</a:t>
            </a:r>
            <a:endParaRPr lang="en-US" sz="1306" dirty="0"/>
          </a:p>
        </p:txBody>
      </p:sp>
      <p:sp>
        <p:nvSpPr>
          <p:cNvPr id="17" name="Text 10"/>
          <p:cNvSpPr/>
          <p:nvPr/>
        </p:nvSpPr>
        <p:spPr>
          <a:xfrm>
            <a:off x="472880" y="6018208"/>
            <a:ext cx="4471846" cy="216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5"/>
              </a:lnSpc>
            </a:pPr>
            <a:r>
              <a:rPr lang="en-US" sz="103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Comprehensive analytics, inventory management, customer insights</a:t>
            </a:r>
            <a:endParaRPr lang="en-US" sz="1031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3593" y="5151931"/>
            <a:ext cx="405349" cy="40534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113593" y="5726148"/>
            <a:ext cx="1689006" cy="21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sz="1306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Zero Commission</a:t>
            </a:r>
            <a:endParaRPr lang="en-US" sz="1306" dirty="0"/>
          </a:p>
        </p:txBody>
      </p:sp>
      <p:sp>
        <p:nvSpPr>
          <p:cNvPr id="20" name="Text 12"/>
          <p:cNvSpPr/>
          <p:nvPr/>
        </p:nvSpPr>
        <p:spPr>
          <a:xfrm>
            <a:off x="5113594" y="6018208"/>
            <a:ext cx="4471928" cy="216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5"/>
              </a:lnSpc>
            </a:pPr>
            <a:r>
              <a:rPr lang="en-US" sz="103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Direct transactions with no platform fees for maximum value</a:t>
            </a:r>
            <a:endParaRPr lang="en-US" sz="1031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182D472-1054-2913-C881-A585F9780A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90896" y="6322164"/>
            <a:ext cx="1367504" cy="39296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11CF0C4-2238-BAF0-4D82-6A6624801A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7888" y="7254713"/>
            <a:ext cx="1657581" cy="476316"/>
          </a:xfrm>
          <a:prstGeom prst="rect">
            <a:avLst/>
          </a:prstGeom>
        </p:spPr>
      </p:pic>
      <p:pic>
        <p:nvPicPr>
          <p:cNvPr id="23" name="object 3">
            <a:extLst>
              <a:ext uri="{FF2B5EF4-FFF2-40B4-BE49-F238E27FC236}">
                <a16:creationId xmlns:a16="http://schemas.microsoft.com/office/drawing/2014/main" id="{34FC7FFE-3D34-F92B-ECAA-BABD33E9D237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8705" y="1425543"/>
            <a:ext cx="3347889" cy="418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265"/>
              </a:lnSpc>
            </a:pPr>
            <a:r>
              <a:rPr lang="en-US" sz="2613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Future Scope</a:t>
            </a:r>
            <a:endParaRPr lang="en-US" sz="2613" dirty="0"/>
          </a:p>
        </p:txBody>
      </p:sp>
      <p:sp>
        <p:nvSpPr>
          <p:cNvPr id="3" name="Text 1"/>
          <p:cNvSpPr/>
          <p:nvPr/>
        </p:nvSpPr>
        <p:spPr>
          <a:xfrm>
            <a:off x="468705" y="1897522"/>
            <a:ext cx="2008733" cy="251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9"/>
              </a:lnSpc>
            </a:pPr>
            <a:r>
              <a:rPr lang="en-US" sz="1582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Expanding the Vision</a:t>
            </a:r>
            <a:endParaRPr lang="en-US" sz="1582" dirty="0"/>
          </a:p>
        </p:txBody>
      </p:sp>
      <p:sp>
        <p:nvSpPr>
          <p:cNvPr id="4" name="Shape 2"/>
          <p:cNvSpPr/>
          <p:nvPr/>
        </p:nvSpPr>
        <p:spPr>
          <a:xfrm>
            <a:off x="5021342" y="2349446"/>
            <a:ext cx="15716" cy="3998558"/>
          </a:xfrm>
          <a:prstGeom prst="roundRect">
            <a:avLst>
              <a:gd name="adj" fmla="val 357882"/>
            </a:avLst>
          </a:prstGeom>
          <a:solidFill>
            <a:srgbClr val="C5D2CF"/>
          </a:solidFill>
          <a:ln/>
        </p:spPr>
      </p:sp>
      <p:sp>
        <p:nvSpPr>
          <p:cNvPr id="5" name="Shape 3"/>
          <p:cNvSpPr/>
          <p:nvPr/>
        </p:nvSpPr>
        <p:spPr>
          <a:xfrm>
            <a:off x="4492515" y="2492202"/>
            <a:ext cx="401747" cy="15716"/>
          </a:xfrm>
          <a:prstGeom prst="roundRect">
            <a:avLst>
              <a:gd name="adj" fmla="val 357882"/>
            </a:avLst>
          </a:prstGeom>
          <a:solidFill>
            <a:srgbClr val="C5D2CF"/>
          </a:solidFill>
          <a:ln/>
        </p:spPr>
      </p:sp>
      <p:sp>
        <p:nvSpPr>
          <p:cNvPr id="6" name="Shape 4"/>
          <p:cNvSpPr/>
          <p:nvPr/>
        </p:nvSpPr>
        <p:spPr>
          <a:xfrm>
            <a:off x="4878545" y="2349446"/>
            <a:ext cx="301310" cy="301310"/>
          </a:xfrm>
          <a:prstGeom prst="roundRect">
            <a:avLst>
              <a:gd name="adj" fmla="val 1866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28723" y="2374534"/>
            <a:ext cx="200873" cy="251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582"/>
              </a:lnSpc>
            </a:pPr>
            <a:r>
              <a:rPr lang="en-US" sz="1582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1582" dirty="0"/>
          </a:p>
        </p:txBody>
      </p:sp>
      <p:sp>
        <p:nvSpPr>
          <p:cNvPr id="8" name="Text 6"/>
          <p:cNvSpPr/>
          <p:nvPr/>
        </p:nvSpPr>
        <p:spPr>
          <a:xfrm>
            <a:off x="2471299" y="2395450"/>
            <a:ext cx="1888324" cy="209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1615"/>
              </a:lnSpc>
            </a:pPr>
            <a:r>
              <a:rPr lang="en-US" sz="1306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Multi-Platform Expansion</a:t>
            </a:r>
            <a:endParaRPr lang="en-US" sz="1306" dirty="0"/>
          </a:p>
        </p:txBody>
      </p:sp>
      <p:sp>
        <p:nvSpPr>
          <p:cNvPr id="9" name="Text 7"/>
          <p:cNvSpPr/>
          <p:nvPr/>
        </p:nvSpPr>
        <p:spPr>
          <a:xfrm>
            <a:off x="468705" y="2684971"/>
            <a:ext cx="3890918" cy="21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1685"/>
              </a:lnSpc>
            </a:pPr>
            <a:r>
              <a:rPr lang="en-US" sz="103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iOS, Android native apps with offline capabilities</a:t>
            </a:r>
            <a:endParaRPr lang="en-US" sz="1031" dirty="0"/>
          </a:p>
        </p:txBody>
      </p:sp>
      <p:sp>
        <p:nvSpPr>
          <p:cNvPr id="10" name="Shape 8"/>
          <p:cNvSpPr/>
          <p:nvPr/>
        </p:nvSpPr>
        <p:spPr>
          <a:xfrm>
            <a:off x="5164139" y="3295695"/>
            <a:ext cx="401747" cy="15716"/>
          </a:xfrm>
          <a:prstGeom prst="roundRect">
            <a:avLst>
              <a:gd name="adj" fmla="val 357882"/>
            </a:avLst>
          </a:prstGeom>
          <a:solidFill>
            <a:srgbClr val="C5D2CF"/>
          </a:solidFill>
          <a:ln/>
        </p:spPr>
      </p:sp>
      <p:sp>
        <p:nvSpPr>
          <p:cNvPr id="11" name="Shape 9"/>
          <p:cNvSpPr/>
          <p:nvPr/>
        </p:nvSpPr>
        <p:spPr>
          <a:xfrm>
            <a:off x="4878545" y="3152939"/>
            <a:ext cx="301310" cy="301310"/>
          </a:xfrm>
          <a:prstGeom prst="roundRect">
            <a:avLst>
              <a:gd name="adj" fmla="val 1866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28723" y="3178028"/>
            <a:ext cx="200873" cy="251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582"/>
              </a:lnSpc>
            </a:pPr>
            <a:r>
              <a:rPr lang="en-US" sz="1582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1582" dirty="0"/>
          </a:p>
        </p:txBody>
      </p:sp>
      <p:sp>
        <p:nvSpPr>
          <p:cNvPr id="13" name="Text 11"/>
          <p:cNvSpPr/>
          <p:nvPr/>
        </p:nvSpPr>
        <p:spPr>
          <a:xfrm>
            <a:off x="5698778" y="3198942"/>
            <a:ext cx="1673944" cy="209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15"/>
              </a:lnSpc>
            </a:pPr>
            <a:r>
              <a:rPr lang="en-US" sz="1306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 Recommendations</a:t>
            </a:r>
            <a:endParaRPr lang="en-US" sz="1306" dirty="0"/>
          </a:p>
        </p:txBody>
      </p:sp>
      <p:sp>
        <p:nvSpPr>
          <p:cNvPr id="14" name="Text 12"/>
          <p:cNvSpPr/>
          <p:nvPr/>
        </p:nvSpPr>
        <p:spPr>
          <a:xfrm>
            <a:off x="5698778" y="3488464"/>
            <a:ext cx="3890918" cy="21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5"/>
              </a:lnSpc>
            </a:pPr>
            <a:r>
              <a:rPr lang="en-US" sz="103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Machine learning for personalized item suggestions</a:t>
            </a:r>
            <a:endParaRPr lang="en-US" sz="1031" dirty="0"/>
          </a:p>
        </p:txBody>
      </p:sp>
      <p:sp>
        <p:nvSpPr>
          <p:cNvPr id="15" name="Shape 13"/>
          <p:cNvSpPr/>
          <p:nvPr/>
        </p:nvSpPr>
        <p:spPr>
          <a:xfrm>
            <a:off x="4492515" y="3988274"/>
            <a:ext cx="401747" cy="15716"/>
          </a:xfrm>
          <a:prstGeom prst="roundRect">
            <a:avLst>
              <a:gd name="adj" fmla="val 357882"/>
            </a:avLst>
          </a:prstGeom>
          <a:solidFill>
            <a:srgbClr val="C5D2CF"/>
          </a:solidFill>
          <a:ln/>
        </p:spPr>
      </p:sp>
      <p:sp>
        <p:nvSpPr>
          <p:cNvPr id="16" name="Shape 14"/>
          <p:cNvSpPr/>
          <p:nvPr/>
        </p:nvSpPr>
        <p:spPr>
          <a:xfrm>
            <a:off x="4878545" y="3845518"/>
            <a:ext cx="301310" cy="301310"/>
          </a:xfrm>
          <a:prstGeom prst="roundRect">
            <a:avLst>
              <a:gd name="adj" fmla="val 1866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28723" y="3870607"/>
            <a:ext cx="200873" cy="251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582"/>
              </a:lnSpc>
            </a:pPr>
            <a:r>
              <a:rPr lang="en-US" sz="1582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1582" dirty="0"/>
          </a:p>
        </p:txBody>
      </p:sp>
      <p:sp>
        <p:nvSpPr>
          <p:cNvPr id="18" name="Text 16"/>
          <p:cNvSpPr/>
          <p:nvPr/>
        </p:nvSpPr>
        <p:spPr>
          <a:xfrm>
            <a:off x="2685679" y="3891521"/>
            <a:ext cx="1673944" cy="209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1615"/>
              </a:lnSpc>
            </a:pPr>
            <a:r>
              <a:rPr lang="en-US" sz="1306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Vendor Analytics</a:t>
            </a:r>
            <a:endParaRPr lang="en-US" sz="1306" dirty="0"/>
          </a:p>
        </p:txBody>
      </p:sp>
      <p:sp>
        <p:nvSpPr>
          <p:cNvPr id="19" name="Text 17"/>
          <p:cNvSpPr/>
          <p:nvPr/>
        </p:nvSpPr>
        <p:spPr>
          <a:xfrm>
            <a:off x="468705" y="4181044"/>
            <a:ext cx="3890918" cy="21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1685"/>
              </a:lnSpc>
            </a:pPr>
            <a:r>
              <a:rPr lang="en-US" sz="103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Dashboard with insights on demand, pricing, performance</a:t>
            </a:r>
            <a:endParaRPr lang="en-US" sz="1031" dirty="0"/>
          </a:p>
        </p:txBody>
      </p:sp>
      <p:sp>
        <p:nvSpPr>
          <p:cNvPr id="20" name="Shape 18"/>
          <p:cNvSpPr/>
          <p:nvPr/>
        </p:nvSpPr>
        <p:spPr>
          <a:xfrm>
            <a:off x="5164139" y="4680853"/>
            <a:ext cx="401747" cy="15716"/>
          </a:xfrm>
          <a:prstGeom prst="roundRect">
            <a:avLst>
              <a:gd name="adj" fmla="val 357882"/>
            </a:avLst>
          </a:prstGeom>
          <a:solidFill>
            <a:srgbClr val="C5D2CF"/>
          </a:solidFill>
          <a:ln/>
        </p:spPr>
      </p:sp>
      <p:sp>
        <p:nvSpPr>
          <p:cNvPr id="21" name="Shape 19"/>
          <p:cNvSpPr/>
          <p:nvPr/>
        </p:nvSpPr>
        <p:spPr>
          <a:xfrm>
            <a:off x="4878545" y="4538098"/>
            <a:ext cx="301310" cy="301310"/>
          </a:xfrm>
          <a:prstGeom prst="roundRect">
            <a:avLst>
              <a:gd name="adj" fmla="val 1866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28723" y="4563186"/>
            <a:ext cx="200873" cy="251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582"/>
              </a:lnSpc>
            </a:pPr>
            <a:r>
              <a:rPr lang="en-US" sz="1582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1582" dirty="0"/>
          </a:p>
        </p:txBody>
      </p:sp>
      <p:sp>
        <p:nvSpPr>
          <p:cNvPr id="23" name="Text 21"/>
          <p:cNvSpPr/>
          <p:nvPr/>
        </p:nvSpPr>
        <p:spPr>
          <a:xfrm>
            <a:off x="5698778" y="4584100"/>
            <a:ext cx="1673944" cy="209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15"/>
              </a:lnSpc>
            </a:pPr>
            <a:r>
              <a:rPr lang="en-US" sz="1306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Marketing Tools</a:t>
            </a:r>
            <a:endParaRPr lang="en-US" sz="1306" dirty="0"/>
          </a:p>
        </p:txBody>
      </p:sp>
      <p:sp>
        <p:nvSpPr>
          <p:cNvPr id="24" name="Text 22"/>
          <p:cNvSpPr/>
          <p:nvPr/>
        </p:nvSpPr>
        <p:spPr>
          <a:xfrm>
            <a:off x="5698778" y="4873623"/>
            <a:ext cx="3890918" cy="21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5"/>
              </a:lnSpc>
            </a:pPr>
            <a:r>
              <a:rPr lang="en-US" sz="103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Promotional campaigns, loyalty programs, targeted ads</a:t>
            </a:r>
            <a:endParaRPr lang="en-US" sz="1031" dirty="0"/>
          </a:p>
        </p:txBody>
      </p:sp>
      <p:sp>
        <p:nvSpPr>
          <p:cNvPr id="25" name="Shape 23"/>
          <p:cNvSpPr/>
          <p:nvPr/>
        </p:nvSpPr>
        <p:spPr>
          <a:xfrm>
            <a:off x="4492515" y="5373433"/>
            <a:ext cx="401747" cy="15716"/>
          </a:xfrm>
          <a:prstGeom prst="roundRect">
            <a:avLst>
              <a:gd name="adj" fmla="val 357882"/>
            </a:avLst>
          </a:prstGeom>
          <a:solidFill>
            <a:srgbClr val="C5D2CF"/>
          </a:solidFill>
          <a:ln/>
        </p:spPr>
      </p:sp>
      <p:sp>
        <p:nvSpPr>
          <p:cNvPr id="26" name="Shape 24"/>
          <p:cNvSpPr/>
          <p:nvPr/>
        </p:nvSpPr>
        <p:spPr>
          <a:xfrm>
            <a:off x="4878545" y="5230677"/>
            <a:ext cx="301310" cy="301310"/>
          </a:xfrm>
          <a:prstGeom prst="roundRect">
            <a:avLst>
              <a:gd name="adj" fmla="val 1866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28723" y="5255765"/>
            <a:ext cx="200873" cy="251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582"/>
              </a:lnSpc>
            </a:pPr>
            <a:r>
              <a:rPr lang="en-US" sz="1582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5</a:t>
            </a:r>
            <a:endParaRPr lang="en-US" sz="1582" dirty="0"/>
          </a:p>
        </p:txBody>
      </p:sp>
      <p:sp>
        <p:nvSpPr>
          <p:cNvPr id="28" name="Text 26"/>
          <p:cNvSpPr/>
          <p:nvPr/>
        </p:nvSpPr>
        <p:spPr>
          <a:xfrm>
            <a:off x="2685679" y="5276680"/>
            <a:ext cx="1673944" cy="209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1615"/>
              </a:lnSpc>
            </a:pPr>
            <a:r>
              <a:rPr lang="en-US" sz="1306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Geographic Expansion</a:t>
            </a:r>
            <a:endParaRPr lang="en-US" sz="1306" dirty="0"/>
          </a:p>
        </p:txBody>
      </p:sp>
      <p:sp>
        <p:nvSpPr>
          <p:cNvPr id="29" name="Text 27"/>
          <p:cNvSpPr/>
          <p:nvPr/>
        </p:nvSpPr>
        <p:spPr>
          <a:xfrm>
            <a:off x="468705" y="5566202"/>
            <a:ext cx="3890918" cy="21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1685"/>
              </a:lnSpc>
            </a:pPr>
            <a:r>
              <a:rPr lang="en-US" sz="103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Scale to all Tier 2 &amp; 3 cities nationwide</a:t>
            </a:r>
            <a:endParaRPr lang="en-US" sz="1031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EFA8C0B-F04F-445C-E82F-BD5C99EA5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0896" y="6322164"/>
            <a:ext cx="1367504" cy="39296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798A1D9-16E0-1E19-4D49-96947DCE3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888" y="7254713"/>
            <a:ext cx="1657581" cy="476316"/>
          </a:xfrm>
          <a:prstGeom prst="rect">
            <a:avLst/>
          </a:prstGeom>
        </p:spPr>
      </p:pic>
      <p:pic>
        <p:nvPicPr>
          <p:cNvPr id="32" name="object 3">
            <a:extLst>
              <a:ext uri="{FF2B5EF4-FFF2-40B4-BE49-F238E27FC236}">
                <a16:creationId xmlns:a16="http://schemas.microsoft.com/office/drawing/2014/main" id="{83154B4A-3BD2-0E1B-3F4E-F723213E0F8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12A55-EC48-35FB-2F46-49777B7FD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1090280"/>
            <a:ext cx="8675370" cy="1093589"/>
          </a:xfrm>
        </p:spPr>
        <p:txBody>
          <a:bodyPr>
            <a:normAutofit/>
          </a:bodyPr>
          <a:lstStyle/>
          <a:p>
            <a:r>
              <a:rPr lang="en-IN" sz="2970" dirty="0">
                <a:solidFill>
                  <a:schemeClr val="tx1"/>
                </a:solidFill>
              </a:rPr>
              <a:t>Research Papers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F0F193FC-7B74-025A-74D8-8EF7FC28E33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64023182"/>
              </p:ext>
            </p:extLst>
          </p:nvPr>
        </p:nvGraphicFramePr>
        <p:xfrm>
          <a:off x="691515" y="1861947"/>
          <a:ext cx="8830436" cy="478758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53925">
                  <a:extLst>
                    <a:ext uri="{9D8B030D-6E8A-4147-A177-3AD203B41FA5}">
                      <a16:colId xmlns:a16="http://schemas.microsoft.com/office/drawing/2014/main" val="1059639058"/>
                    </a:ext>
                  </a:extLst>
                </a:gridCol>
                <a:gridCol w="3178250">
                  <a:extLst>
                    <a:ext uri="{9D8B030D-6E8A-4147-A177-3AD203B41FA5}">
                      <a16:colId xmlns:a16="http://schemas.microsoft.com/office/drawing/2014/main" val="3317892827"/>
                    </a:ext>
                  </a:extLst>
                </a:gridCol>
                <a:gridCol w="1766087">
                  <a:extLst>
                    <a:ext uri="{9D8B030D-6E8A-4147-A177-3AD203B41FA5}">
                      <a16:colId xmlns:a16="http://schemas.microsoft.com/office/drawing/2014/main" val="1874578289"/>
                    </a:ext>
                  </a:extLst>
                </a:gridCol>
                <a:gridCol w="1766087">
                  <a:extLst>
                    <a:ext uri="{9D8B030D-6E8A-4147-A177-3AD203B41FA5}">
                      <a16:colId xmlns:a16="http://schemas.microsoft.com/office/drawing/2014/main" val="3504558132"/>
                    </a:ext>
                  </a:extLst>
                </a:gridCol>
                <a:gridCol w="1766087">
                  <a:extLst>
                    <a:ext uri="{9D8B030D-6E8A-4147-A177-3AD203B41FA5}">
                      <a16:colId xmlns:a16="http://schemas.microsoft.com/office/drawing/2014/main" val="2409310102"/>
                    </a:ext>
                  </a:extLst>
                </a:gridCol>
              </a:tblGrid>
              <a:tr h="2738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700" b="1"/>
                        <a:t>No.</a:t>
                      </a:r>
                    </a:p>
                  </a:txBody>
                  <a:tcPr marL="14584" marR="14584" marT="7292" marB="7292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700" b="1" dirty="0"/>
                        <a:t>Title</a:t>
                      </a:r>
                    </a:p>
                  </a:txBody>
                  <a:tcPr marL="14584" marR="14584" marT="7292" marB="7292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700" b="1"/>
                        <a:t>Authors</a:t>
                      </a:r>
                    </a:p>
                  </a:txBody>
                  <a:tcPr marL="14584" marR="14584" marT="7292" marB="7292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700" b="1"/>
                        <a:t>Year</a:t>
                      </a:r>
                    </a:p>
                  </a:txBody>
                  <a:tcPr marL="14584" marR="14584" marT="7292" marB="7292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700" b="1" dirty="0"/>
                        <a:t>Publication Site / Journal / Conference</a:t>
                      </a:r>
                    </a:p>
                  </a:txBody>
                  <a:tcPr marL="14584" marR="14584" marT="7292" marB="7292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047025"/>
                  </a:ext>
                </a:extLst>
              </a:tr>
              <a:tr h="565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1</a:t>
                      </a:r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Peer-to-Peer Rental Markets in the Sharing Economy</a:t>
                      </a:r>
                      <a:endParaRPr lang="en-US" sz="9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Fraiberger</a:t>
                      </a: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S. &amp; Sundararajan, A.</a:t>
                      </a:r>
                      <a:endParaRPr lang="en-IN" sz="9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1" dirty="0"/>
                        <a:t>2016</a:t>
                      </a:r>
                      <a:endParaRPr lang="en-IN" sz="9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Harvard Business School (</a:t>
                      </a: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PDF</a:t>
                      </a: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900" dirty="0"/>
                    </a:p>
                  </a:txBody>
                  <a:tcPr marL="14584" marR="14584" marT="7292" marB="7292" anchor="ctr"/>
                </a:tc>
                <a:extLst>
                  <a:ext uri="{0D108BD9-81ED-4DB2-BD59-A6C34878D82A}">
                    <a16:rowId xmlns:a16="http://schemas.microsoft.com/office/drawing/2014/main" val="2770215044"/>
                  </a:ext>
                </a:extLst>
              </a:tr>
              <a:tr h="4144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</a:t>
                      </a:r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Which Product Categories Welcome Peer-to-Peer Product Rental Market?</a:t>
                      </a:r>
                      <a:endParaRPr lang="en-US" sz="9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Hirao, Morifumi</a:t>
                      </a:r>
                      <a:endParaRPr lang="en-IN" sz="9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1" dirty="0"/>
                        <a:t>2023</a:t>
                      </a:r>
                      <a:endParaRPr lang="en-IN" sz="9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SSRN (</a:t>
                      </a: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SSRN</a:t>
                      </a: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sv-SE" sz="900" dirty="0"/>
                    </a:p>
                  </a:txBody>
                  <a:tcPr marL="14584" marR="14584" marT="7292" marB="7292" anchor="ctr"/>
                </a:tc>
                <a:extLst>
                  <a:ext uri="{0D108BD9-81ED-4DB2-BD59-A6C34878D82A}">
                    <a16:rowId xmlns:a16="http://schemas.microsoft.com/office/drawing/2014/main" val="1717966300"/>
                  </a:ext>
                </a:extLst>
              </a:tr>
              <a:tr h="565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3</a:t>
                      </a:r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Peer-to-Peer Rental Markets in the Sharing Economy (SSRN Version)</a:t>
                      </a:r>
                      <a:endParaRPr lang="en-US" sz="9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 err="1">
                          <a:effectLst/>
                        </a:rPr>
                        <a:t>Fraiberger</a:t>
                      </a:r>
                      <a:r>
                        <a:rPr lang="en-US" sz="900" dirty="0">
                          <a:effectLst/>
                        </a:rPr>
                        <a:t>, S. P.</a:t>
                      </a:r>
                      <a:endParaRPr lang="en-IN" sz="9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1" dirty="0"/>
                        <a:t>2017</a:t>
                      </a:r>
                      <a:endParaRPr lang="en-IN" sz="9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SSRN (</a:t>
                      </a: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SSRN</a:t>
                      </a: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IN" sz="900" dirty="0"/>
                    </a:p>
                  </a:txBody>
                  <a:tcPr marL="14584" marR="14584" marT="7292" marB="7292" anchor="ctr"/>
                </a:tc>
                <a:extLst>
                  <a:ext uri="{0D108BD9-81ED-4DB2-BD59-A6C34878D82A}">
                    <a16:rowId xmlns:a16="http://schemas.microsoft.com/office/drawing/2014/main" val="2002337968"/>
                  </a:ext>
                </a:extLst>
              </a:tr>
              <a:tr h="3646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4</a:t>
                      </a:r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Peer to Peer Online Rental Platform</a:t>
                      </a:r>
                      <a:endParaRPr lang="en-US" sz="9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IJERT Research Team</a:t>
                      </a:r>
                      <a:endParaRPr lang="en-IN" sz="9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1" dirty="0"/>
                        <a:t>2022</a:t>
                      </a:r>
                      <a:endParaRPr lang="en-IN" sz="9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International Journal of Engineering Research &amp; Technology (</a:t>
                      </a: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IJERT</a:t>
                      </a: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IN" sz="900" dirty="0"/>
                    </a:p>
                  </a:txBody>
                  <a:tcPr marL="14584" marR="14584" marT="7292" marB="7292" anchor="ctr"/>
                </a:tc>
                <a:extLst>
                  <a:ext uri="{0D108BD9-81ED-4DB2-BD59-A6C34878D82A}">
                    <a16:rowId xmlns:a16="http://schemas.microsoft.com/office/drawing/2014/main" val="3129638565"/>
                  </a:ext>
                </a:extLst>
              </a:tr>
              <a:tr h="464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5</a:t>
                      </a:r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Study on Competitive Strategy Adopted by </a:t>
                      </a:r>
                      <a:r>
                        <a:rPr lang="en-US" sz="9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NoBroker</a:t>
                      </a:r>
                      <a:endParaRPr lang="en-US" sz="9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Academic Research Paper</a:t>
                      </a:r>
                      <a:endParaRPr lang="en-IN" sz="9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1" dirty="0"/>
                        <a:t>2024</a:t>
                      </a:r>
                      <a:endParaRPr lang="en-IN" sz="9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Alameen Educational Institution (</a:t>
                      </a: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PDF</a:t>
                      </a: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IN" sz="900" dirty="0"/>
                    </a:p>
                  </a:txBody>
                  <a:tcPr marL="14584" marR="14584" marT="7292" marB="7292" anchor="ctr"/>
                </a:tc>
                <a:extLst>
                  <a:ext uri="{0D108BD9-81ED-4DB2-BD59-A6C34878D82A}">
                    <a16:rowId xmlns:a16="http://schemas.microsoft.com/office/drawing/2014/main" val="2903094367"/>
                  </a:ext>
                </a:extLst>
              </a:tr>
              <a:tr h="290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6</a:t>
                      </a:r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How to Build a Rental Marketplace: Ultimate Guide</a:t>
                      </a:r>
                      <a:endParaRPr lang="en-US" sz="9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Codica</a:t>
                      </a: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Development Team</a:t>
                      </a:r>
                      <a:endParaRPr lang="en-IN" sz="9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1" dirty="0"/>
                        <a:t>2025</a:t>
                      </a:r>
                      <a:endParaRPr lang="en-IN" sz="9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Codica</a:t>
                      </a: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Blog (</a:t>
                      </a:r>
                      <a:r>
                        <a:rPr lang="en-US" sz="9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/>
                        </a:rPr>
                        <a:t>Codica</a:t>
                      </a: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IN" sz="900" dirty="0"/>
                    </a:p>
                  </a:txBody>
                  <a:tcPr marL="14584" marR="14584" marT="7292" marB="7292" anchor="ctr"/>
                </a:tc>
                <a:extLst>
                  <a:ext uri="{0D108BD9-81ED-4DB2-BD59-A6C34878D82A}">
                    <a16:rowId xmlns:a16="http://schemas.microsoft.com/office/drawing/2014/main" val="4291110218"/>
                  </a:ext>
                </a:extLst>
              </a:tr>
              <a:tr h="427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7</a:t>
                      </a:r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How to Build a Rental Marketplace Platform: Cost &amp; Steps</a:t>
                      </a:r>
                      <a:endParaRPr lang="en-US" sz="9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Suffescom</a:t>
                      </a: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Solutions</a:t>
                      </a:r>
                      <a:endParaRPr lang="en-IN" sz="9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1" dirty="0"/>
                        <a:t>2025</a:t>
                      </a:r>
                      <a:endParaRPr lang="en-IN" sz="9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Suffescom</a:t>
                      </a: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Blog (</a:t>
                      </a:r>
                      <a:r>
                        <a:rPr lang="en-US" sz="9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/>
                        </a:rPr>
                        <a:t>Suffescom</a:t>
                      </a: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900" dirty="0"/>
                    </a:p>
                  </a:txBody>
                  <a:tcPr marL="14584" marR="14584" marT="7292" marB="7292" anchor="ctr"/>
                </a:tc>
                <a:extLst>
                  <a:ext uri="{0D108BD9-81ED-4DB2-BD59-A6C34878D82A}">
                    <a16:rowId xmlns:a16="http://schemas.microsoft.com/office/drawing/2014/main" val="1148382751"/>
                  </a:ext>
                </a:extLst>
              </a:tr>
              <a:tr h="427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8</a:t>
                      </a:r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Rent Ease-A Modern Rental Platform</a:t>
                      </a:r>
                      <a:endParaRPr lang="en-US" sz="9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Mohammed </a:t>
                      </a:r>
                      <a:r>
                        <a:rPr lang="en-US" sz="9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Raffiyutheen</a:t>
                      </a: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J.</a:t>
                      </a:r>
                      <a:endParaRPr lang="en-IN" sz="9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1" dirty="0"/>
                        <a:t>2024</a:t>
                      </a:r>
                      <a:endParaRPr lang="en-IN" sz="9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CSN-SECP Journal (</a:t>
                      </a: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9"/>
                        </a:rPr>
                        <a:t>PDF</a:t>
                      </a: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900" dirty="0"/>
                    </a:p>
                  </a:txBody>
                  <a:tcPr marL="14584" marR="14584" marT="7292" marB="7292" anchor="ctr"/>
                </a:tc>
                <a:extLst>
                  <a:ext uri="{0D108BD9-81ED-4DB2-BD59-A6C34878D82A}">
                    <a16:rowId xmlns:a16="http://schemas.microsoft.com/office/drawing/2014/main" val="600635221"/>
                  </a:ext>
                </a:extLst>
              </a:tr>
              <a:tr h="427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9</a:t>
                      </a:r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Survey on Online Renting Platforms</a:t>
                      </a:r>
                      <a:endParaRPr lang="en-US" sz="9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IJCRT Research Team</a:t>
                      </a:r>
                      <a:endParaRPr lang="fi-FI" sz="9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1" dirty="0"/>
                        <a:t>2021</a:t>
                      </a:r>
                      <a:endParaRPr lang="en-IN" sz="9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effectLst/>
                        </a:rPr>
                        <a:t>International Journal of Creative Research Thoughts (</a:t>
                      </a:r>
                      <a:r>
                        <a:rPr lang="en-US" sz="900" dirty="0">
                          <a:effectLst/>
                          <a:hlinkClick r:id="rId10"/>
                        </a:rPr>
                        <a:t>IJCRT</a:t>
                      </a:r>
                      <a:r>
                        <a:rPr lang="en-US" sz="900" dirty="0">
                          <a:effectLst/>
                        </a:rPr>
                        <a:t>)</a:t>
                      </a:r>
                      <a:endParaRPr lang="en-IN" sz="900" dirty="0"/>
                    </a:p>
                  </a:txBody>
                  <a:tcPr marL="14584" marR="14584" marT="7292" marB="7292" anchor="ctr"/>
                </a:tc>
                <a:extLst>
                  <a:ext uri="{0D108BD9-81ED-4DB2-BD59-A6C34878D82A}">
                    <a16:rowId xmlns:a16="http://schemas.microsoft.com/office/drawing/2014/main" val="122637951"/>
                  </a:ext>
                </a:extLst>
              </a:tr>
              <a:tr h="565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10</a:t>
                      </a:r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effectLst/>
                        </a:rPr>
                        <a:t>Online Home Rental Market Size, Trends &amp; Forecast 2025</a:t>
                      </a:r>
                      <a:endParaRPr lang="en-US" sz="9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Future Market Insights</a:t>
                      </a:r>
                      <a:endParaRPr lang="en-IN" sz="9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1" dirty="0"/>
                        <a:t>2025</a:t>
                      </a:r>
                      <a:endParaRPr lang="en-IN" sz="9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Market Research Report (</a:t>
                      </a: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1"/>
                        </a:rPr>
                        <a:t>FMI</a:t>
                      </a: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900" dirty="0"/>
                    </a:p>
                  </a:txBody>
                  <a:tcPr marL="14584" marR="14584" marT="7292" marB="7292" anchor="ctr"/>
                </a:tc>
                <a:extLst>
                  <a:ext uri="{0D108BD9-81ED-4DB2-BD59-A6C34878D82A}">
                    <a16:rowId xmlns:a16="http://schemas.microsoft.com/office/drawing/2014/main" val="158907519"/>
                  </a:ext>
                </a:extLst>
              </a:tr>
            </a:tbl>
          </a:graphicData>
        </a:graphic>
      </p:graphicFrame>
      <p:pic>
        <p:nvPicPr>
          <p:cNvPr id="3" name="object 3">
            <a:extLst>
              <a:ext uri="{FF2B5EF4-FFF2-40B4-BE49-F238E27FC236}">
                <a16:creationId xmlns:a16="http://schemas.microsoft.com/office/drawing/2014/main" id="{0B855956-3DC2-8B59-2D59-437DB82D87A4}"/>
              </a:ext>
            </a:extLst>
          </p:cNvPr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7753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26" y="1447071"/>
            <a:ext cx="3544178" cy="44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72"/>
              </a:lnSpc>
            </a:pPr>
            <a:r>
              <a:rPr lang="en-US" sz="2784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Conclusion</a:t>
            </a:r>
            <a:endParaRPr lang="en-US" sz="2784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27" y="2262106"/>
            <a:ext cx="4360195" cy="43601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07318" y="2244343"/>
            <a:ext cx="4360195" cy="53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63"/>
              </a:lnSpc>
            </a:pPr>
            <a:r>
              <a:rPr lang="en-US" sz="1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Transforming Rentals, Empowering Communities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5207318" y="2917604"/>
            <a:ext cx="4360195" cy="453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53"/>
              </a:lnSpc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LEEZ bridges the gap between </a:t>
            </a:r>
            <a:r>
              <a:rPr lang="en-US" sz="11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demand and supply</a:t>
            </a: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in underserved markets through technology.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07318" y="3498779"/>
            <a:ext cx="4360195" cy="226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35735" indent="-235735">
              <a:lnSpc>
                <a:spcPts val="1753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Secure, transparent rental ecosystem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207318" y="3775204"/>
            <a:ext cx="4360195" cy="226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35735" indent="-235735">
              <a:lnSpc>
                <a:spcPts val="1753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Vendor-friendly business model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207318" y="4051630"/>
            <a:ext cx="4360195" cy="226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35735" indent="-235735">
              <a:lnSpc>
                <a:spcPts val="1753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Scalable architecture for future growth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207318" y="4328057"/>
            <a:ext cx="4360195" cy="226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35735" indent="-235735">
              <a:lnSpc>
                <a:spcPts val="1753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Real-world impact on local economies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202078" y="5049159"/>
            <a:ext cx="4360195" cy="22920"/>
          </a:xfrm>
          <a:prstGeom prst="rect">
            <a:avLst/>
          </a:prstGeom>
          <a:solidFill>
            <a:srgbClr val="2C3249">
              <a:alpha val="5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5202080" y="5576965"/>
            <a:ext cx="2894246" cy="354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84"/>
              </a:lnSpc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207318" y="5463555"/>
            <a:ext cx="4360195" cy="226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53"/>
              </a:lnSpc>
            </a:pPr>
            <a:endParaRPr lang="en-US" sz="1100" dirty="0">
              <a:solidFill>
                <a:srgbClr val="2C3249"/>
              </a:solidFill>
              <a:latin typeface="Martel Sans" pitchFamily="34" charset="0"/>
              <a:ea typeface="Martel Sans" pitchFamily="34" charset="-122"/>
              <a:cs typeface="Martel Sans" pitchFamily="34" charset="-120"/>
            </a:endParaRPr>
          </a:p>
          <a:p>
            <a:pPr>
              <a:lnSpc>
                <a:spcPts val="1753"/>
              </a:lnSpc>
            </a:pPr>
            <a:endParaRPr lang="en-US" sz="1100" dirty="0">
              <a:solidFill>
                <a:srgbClr val="2C3249"/>
              </a:solidFill>
              <a:latin typeface="Martel Sans" pitchFamily="34" charset="0"/>
              <a:ea typeface="Martel Sans" pitchFamily="34" charset="-122"/>
              <a:cs typeface="Martel Sans" pitchFamily="34" charset="-120"/>
            </a:endParaRPr>
          </a:p>
          <a:p>
            <a:pPr>
              <a:lnSpc>
                <a:spcPts val="1753"/>
              </a:lnSpc>
            </a:pPr>
            <a:endParaRPr lang="en-US" sz="1100" dirty="0">
              <a:solidFill>
                <a:srgbClr val="2C3249"/>
              </a:solidFill>
              <a:latin typeface="Martel Sans" pitchFamily="34" charset="0"/>
              <a:ea typeface="Martel Sans" pitchFamily="34" charset="-122"/>
              <a:cs typeface="Martel Sans" pitchFamily="34" charset="-120"/>
            </a:endParaRPr>
          </a:p>
          <a:p>
            <a:pPr>
              <a:lnSpc>
                <a:spcPts val="1753"/>
              </a:lnSpc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Thank you for your attention!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01E71AB-F91B-46C4-9FB7-77C01B5BDD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0896" y="6322164"/>
            <a:ext cx="1367504" cy="3929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1143D9E-5693-4590-60E6-2AB289617A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7888" y="7254713"/>
            <a:ext cx="1657581" cy="476316"/>
          </a:xfrm>
          <a:prstGeom prst="rect">
            <a:avLst/>
          </a:prstGeom>
        </p:spPr>
      </p:pic>
      <p:pic>
        <p:nvPicPr>
          <p:cNvPr id="15" name="object 3">
            <a:extLst>
              <a:ext uri="{FF2B5EF4-FFF2-40B4-BE49-F238E27FC236}">
                <a16:creationId xmlns:a16="http://schemas.microsoft.com/office/drawing/2014/main" id="{3211E01C-C921-F55A-991A-CF4F35F4C6B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</TotalTime>
  <Words>869</Words>
  <Application>Microsoft Office PowerPoint</Application>
  <PresentationFormat>Custom</PresentationFormat>
  <Paragraphs>212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Cambria</vt:lpstr>
      <vt:lpstr>Kanit Light</vt:lpstr>
      <vt:lpstr>Martel Sans</vt:lpstr>
      <vt:lpstr>Palatino Linotype</vt:lpstr>
      <vt:lpstr>Office Theme</vt:lpstr>
      <vt:lpstr>Zeroth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Research Papers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RESHMA BASAPATHI</dc:creator>
  <cp:lastModifiedBy>Suchandra .</cp:lastModifiedBy>
  <cp:revision>9</cp:revision>
  <dcterms:created xsi:type="dcterms:W3CDTF">2025-10-10T08:28:06Z</dcterms:created>
  <dcterms:modified xsi:type="dcterms:W3CDTF">2025-10-13T05:05:58Z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