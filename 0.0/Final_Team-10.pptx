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7" r:id="rId2"/>
    <p:sldId id="288" r:id="rId3"/>
    <p:sldId id="280" r:id="rId4"/>
    <p:sldId id="281" r:id="rId5"/>
    <p:sldId id="279" r:id="rId6"/>
    <p:sldId id="286" r:id="rId7"/>
    <p:sldId id="262" r:id="rId8"/>
    <p:sldId id="275" r:id="rId9"/>
    <p:sldId id="263" r:id="rId10"/>
    <p:sldId id="289" r:id="rId11"/>
    <p:sldId id="284" r:id="rId12"/>
    <p:sldId id="287" r:id="rId13"/>
    <p:sldId id="285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04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78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EE2C-3245-4680-9C1E-5FA47D5388E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362D6-2CCC-4180-BBCE-291188C2CC8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362D6-2CCC-4180-BBCE-291188C2CC8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7078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BA0D1651-45E6-4A2C-99B8-82F921298F2D}" type="datetime1">
              <a:rPr lang="en-US" smtClean="0"/>
              <a:t>4/25/2026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C62155A9-2BEA-4E1A-A809-3AB570F0F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uturemarketinsights.com/reports/online-home-rental-market" TargetMode="External"/><Relationship Id="rId13" Type="http://schemas.openxmlformats.org/officeDocument/2006/relationships/image" Target="../media/image2.png"/><Relationship Id="rId3" Type="http://schemas.openxmlformats.org/officeDocument/2006/relationships/hyperlink" Target="https://ijcrt.org/papers/IJCRT2104681.pdf" TargetMode="External"/><Relationship Id="rId7" Type="http://schemas.openxmlformats.org/officeDocument/2006/relationships/hyperlink" Target="https://secp.prabodhanamfoundation.org/csn/index.php/csn-secp/article/download/85/83" TargetMode="External"/><Relationship Id="rId12" Type="http://schemas.openxmlformats.org/officeDocument/2006/relationships/image" Target="../media/image7.png"/><Relationship Id="rId2" Type="http://schemas.openxmlformats.org/officeDocument/2006/relationships/hyperlink" Target="https://www.hbs.edu/faculty/Shared%20Documents/conferences/2016-dids/Fraigerber_Sundararajan_March2016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lameenedu.co.in/pdf/mainprojects_2024/P18AT22M015020.pdf" TargetMode="External"/><Relationship Id="rId11" Type="http://schemas.openxmlformats.org/officeDocument/2006/relationships/image" Target="../media/image9.jpeg"/><Relationship Id="rId5" Type="http://schemas.openxmlformats.org/officeDocument/2006/relationships/hyperlink" Target="https://papers.ssrn.com/sol3/papers.cfm?abstract_id=4660386" TargetMode="External"/><Relationship Id="rId10" Type="http://schemas.openxmlformats.org/officeDocument/2006/relationships/hyperlink" Target="https://www.suffescom.com/blog/how-to-create-a-rental-marketplace-platform" TargetMode="External"/><Relationship Id="rId4" Type="http://schemas.openxmlformats.org/officeDocument/2006/relationships/hyperlink" Target="https://www.ijert.org/peer-to-peer-online-rental-platform" TargetMode="External"/><Relationship Id="rId9" Type="http://schemas.openxmlformats.org/officeDocument/2006/relationships/hyperlink" Target="https://www.codica.com/blog/how-to-build-a-rental-marketplace/" TargetMode="Externa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9.jpeg"/><Relationship Id="rId10" Type="http://schemas.microsoft.com/office/2007/relationships/hdphoto" Target="../media/hdphoto1.wdp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88" y="381000"/>
            <a:ext cx="3356471" cy="4576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1" y="1162609"/>
            <a:ext cx="2403262" cy="285400"/>
          </a:xfrm>
          <a:prstGeom prst="rect">
            <a:avLst/>
          </a:prstGeom>
        </p:spPr>
        <p:txBody>
          <a:bodyPr vert="horz" wrap="square" lIns="0" tIns="8320" rIns="0" bIns="0" rtlCol="0" anchor="ctr">
            <a:spAutoFit/>
          </a:bodyPr>
          <a:lstStyle/>
          <a:p>
            <a:pPr marL="9525" algn="ctr">
              <a:spcBef>
                <a:spcPts val="65"/>
              </a:spcBef>
            </a:pPr>
            <a:r>
              <a:rPr lang="en-IN" sz="1800" spc="-7" dirty="0"/>
              <a:t>TEAM 10</a:t>
            </a:r>
            <a:endParaRPr sz="1800" spc="-7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22266" y="2057400"/>
            <a:ext cx="6370513" cy="5308458"/>
          </a:xfrm>
          <a:prstGeom prst="rect">
            <a:avLst/>
          </a:prstGeom>
        </p:spPr>
        <p:txBody>
          <a:bodyPr vert="horz" wrap="square" lIns="0" tIns="12019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en-US" sz="2000" dirty="0"/>
              <a:t>One-Stop Digital Rental Marketplace Platform</a:t>
            </a:r>
          </a:p>
          <a:p>
            <a:pPr algn="ctr">
              <a:spcBef>
                <a:spcPts val="95"/>
              </a:spcBef>
            </a:pPr>
            <a:endParaRPr lang="en-US" sz="1800" dirty="0"/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</a:rPr>
              <a:t>Presented</a:t>
            </a:r>
            <a:r>
              <a:rPr sz="1800" spc="59" dirty="0">
                <a:solidFill>
                  <a:srgbClr val="FF0000"/>
                </a:solidFill>
              </a:rPr>
              <a:t> </a:t>
            </a:r>
            <a:r>
              <a:rPr sz="1800" spc="-18" dirty="0">
                <a:solidFill>
                  <a:srgbClr val="FF0000"/>
                </a:solidFill>
              </a:rPr>
              <a:t>b</a:t>
            </a:r>
            <a:r>
              <a:rPr lang="en-US" sz="1800" spc="-18" dirty="0">
                <a:solidFill>
                  <a:srgbClr val="FF0000"/>
                </a:solidFill>
              </a:rPr>
              <a:t>y</a:t>
            </a:r>
            <a:endParaRPr lang="en-IN" sz="1800" spc="-18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Bachala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Prudvi Satya Teja   (22A91A0565)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Etti S n v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v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Suchandra          (22A91A057</a:t>
            </a:r>
            <a:r>
              <a:rPr lang="en-US" alt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0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Sandip Pal                               (22A91A0561)</a:t>
            </a: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algn="ctr">
              <a:spcBef>
                <a:spcPts val="725"/>
              </a:spcBef>
            </a:pPr>
            <a:r>
              <a:rPr sz="1800" dirty="0">
                <a:solidFill>
                  <a:srgbClr val="943735"/>
                </a:solidFill>
              </a:rPr>
              <a:t>Department</a:t>
            </a:r>
            <a:r>
              <a:rPr sz="1800" spc="-44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of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Computer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Science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&amp;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spc="-7" dirty="0">
                <a:solidFill>
                  <a:srgbClr val="943735"/>
                </a:solidFill>
              </a:rPr>
              <a:t>Engineering</a:t>
            </a: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r>
              <a:rPr lang="en-IN" sz="1800" spc="-7" dirty="0">
                <a:solidFill>
                  <a:srgbClr val="FF0000"/>
                </a:solidFill>
              </a:rPr>
              <a:t>Name of the Supervisor: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Mr. UV Ramesh </a:t>
            </a:r>
            <a:r>
              <a:rPr lang="en-IN" sz="1600" spc="-15" dirty="0" err="1">
                <a:solidFill>
                  <a:srgbClr val="17375E"/>
                </a:solidFill>
              </a:rPr>
              <a:t>M.Tech</a:t>
            </a:r>
            <a:r>
              <a:rPr lang="en-IN" sz="1600" spc="-15" dirty="0">
                <a:solidFill>
                  <a:srgbClr val="17375E"/>
                </a:solidFill>
              </a:rPr>
              <a:t>(</a:t>
            </a:r>
            <a:r>
              <a:rPr lang="en-IN" sz="1600" spc="-15" dirty="0" err="1">
                <a:solidFill>
                  <a:srgbClr val="17375E"/>
                </a:solidFill>
              </a:rPr>
              <a:t>Ph.D</a:t>
            </a:r>
            <a:r>
              <a:rPr lang="en-IN" sz="1600" spc="-15" dirty="0">
                <a:solidFill>
                  <a:srgbClr val="17375E"/>
                </a:solidFill>
              </a:rPr>
              <a:t>) 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06429" y="1533718"/>
            <a:ext cx="6858000" cy="608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US" sz="19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erits  And Demerits</a:t>
            </a:r>
            <a:endParaRPr lang="en-US" sz="195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Syetem</a:t>
            </a: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endParaRPr lang="en-GB" sz="195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3"/>
          <p:cNvGrpSpPr/>
          <p:nvPr/>
        </p:nvGrpSpPr>
        <p:grpSpPr>
          <a:xfrm>
            <a:off x="2667000" y="152400"/>
            <a:ext cx="5197429" cy="1288015"/>
            <a:chOff x="2648188" y="47148"/>
            <a:chExt cx="5103904" cy="1198311"/>
          </a:xfrm>
        </p:grpSpPr>
        <p:pic>
          <p:nvPicPr>
            <p:cNvPr id="1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2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OUTLINE OF THE TALK</a:t>
              </a:r>
              <a:endParaRPr sz="2800" dirty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688" y="40579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37614" y="304918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ABSTRACT</a:t>
            </a:r>
            <a:endParaRPr sz="1950" dirty="0"/>
          </a:p>
        </p:txBody>
      </p:sp>
      <p:sp>
        <p:nvSpPr>
          <p:cNvPr id="2" name="object 4"/>
          <p:cNvSpPr txBox="1"/>
          <p:nvPr/>
        </p:nvSpPr>
        <p:spPr>
          <a:xfrm>
            <a:off x="742440" y="1340744"/>
            <a:ext cx="8915400" cy="50026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The rapid growth of the sharing economy has increased the demand for rental services; however, organized rental platforms are mostly limited to metropolitan cities. Users in Tier-2 and Tier-3 cities face difficulties in finding reliable rental services, while local vendors struggle with visibility and customer reach.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This project proposes  a one-stop digital rental marketplace platform that connects users with verified local vendors for renting items such as bikes, cars, furniture, electronics, and home appliances. 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The system focuses on transparency, ease of access, and vendor empowerment through a commission-free model. This aims to provide a secure and scalable platform that simplifies the rental process for users while supporting local businesses</a:t>
            </a:r>
            <a:endParaRPr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6278" y="1078668"/>
            <a:ext cx="8991600" cy="5015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WEB APPLICATION DEVELOPMENT AND DIGITAL MARKETPLACE SYSTEMS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Digital marketplace platforms enable users and service providers to interact through centralized online systems. Such platforms play a crucial role in organizing unstructured markets by providing search, booking, and trust mechanisms.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This project falls under application-oriented system development, where modern web technologies are used to design and implement a scalable rental marketplace. The focus is on system architecture, usability, and real-world problem solving rather than algorithmic research.</a:t>
            </a:r>
            <a:endParaRPr lang="en-US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237245" y="346454"/>
            <a:ext cx="3925790" cy="3162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INTRODUCTION TO </a:t>
            </a:r>
            <a:r>
              <a:rPr lang="en-US" altLang="en-IN" sz="1950" spc="-10" dirty="0">
                <a:solidFill>
                  <a:srgbClr val="FFFFFF"/>
                </a:solidFill>
              </a:rPr>
              <a:t>PROJECT</a:t>
            </a:r>
            <a:endParaRPr lang="en-IN" sz="1950" dirty="0"/>
          </a:p>
        </p:txBody>
      </p:sp>
      <p:pic>
        <p:nvPicPr>
          <p:cNvPr id="10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5338766"/>
              </p:ext>
            </p:extLst>
          </p:nvPr>
        </p:nvGraphicFramePr>
        <p:xfrm>
          <a:off x="706341" y="1247148"/>
          <a:ext cx="8729516" cy="444737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6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No.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/>
                        <a:t>Title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Authors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Year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/>
                        <a:t>Publication Site / Journal / Conference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Peer-to-Peer Rental Markets in the Sharing Economy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Fraiberger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S. &amp; Sundararajan, 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2016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Harvard Business School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Survey on Online Renting Platforms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Ravi Kant Sahu, Mukund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AgarwaL</a:t>
                      </a:r>
                      <a:endParaRPr lang="fi-FI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2021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International Journal of Creative Research Thoughts (</a:t>
                      </a:r>
                      <a:r>
                        <a:rPr lang="en-US" sz="1200" dirty="0">
                          <a:effectLst/>
                          <a:hlinkClick r:id="rId3"/>
                        </a:rPr>
                        <a:t>IJCRT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 to Peer Online Rental Platform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Akash S ,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Mehroof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Able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Sobichan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2022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Journal of Engineering Research &amp; Technology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IJERT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Product Categories Welcome Peer-to-Peer Product Rental Market?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Hirao, Morifumi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2023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SSRN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SSRN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Study on Competitive Strategy Adopted by NoBroker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Mohammed Ayan Khan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2024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Alameen Educational Institution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Rent Ease-A Modern Rental Platform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Mohammed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Raffiyutheen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J.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CSN-SECP Journal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Online Home Rental Market Size, Trends &amp; Forecast 2025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Market Insights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 Research Report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FMI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Marketplace: Ultimate Guide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Development Team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9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 Platform: Cost &amp; Steps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Solutions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/>
          <p:cNvGrpSpPr/>
          <p:nvPr/>
        </p:nvGrpSpPr>
        <p:grpSpPr>
          <a:xfrm>
            <a:off x="2648188" y="204311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/>
          <p:cNvSpPr txBox="1"/>
          <p:nvPr/>
        </p:nvSpPr>
        <p:spPr>
          <a:xfrm>
            <a:off x="3942840" y="503617"/>
            <a:ext cx="2514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algn="ctr"/>
            <a:r>
              <a:rPr lang="en-IN" sz="2000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037650"/>
            <a:ext cx="9372600" cy="97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45"/>
              </a:lnSpc>
            </a:pPr>
            <a:r>
              <a:rPr lang="en-US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Observation:</a:t>
            </a:r>
          </a:p>
          <a:p>
            <a:pPr>
              <a:lnSpc>
                <a:spcPts val="3745"/>
              </a:lnSpc>
            </a:pPr>
            <a:r>
              <a:rPr lang="en-US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Most existing platforms focus on specific rental categories and metropolitan users.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685800" y="920766"/>
            <a:ext cx="8686800" cy="52488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Users in Tier-2 and Tier-3 cities face difficulties in accessing reliable rental services due to fragmented local markets, lack of trust mechanisms, and the absence of centralized digital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At the same time, local rental vendors struggle with low visibility, high marketing costs, and limited digital reach, which restricts their ability to attract customers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rental platforms are largely single-category, commission-based, and focused on metropolitan areas, making them unsuitable for addressing the needs of smaller 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Therefore, there is a need for a unified, transparent, and user-friendly digital rental marketplace that supports multi-category rentals and enables efficient interaction between users and vendors while ensuring accessibility and trust.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PROBLEM STATEMENT</a:t>
            </a:r>
            <a:endParaRPr lang="en-IN" sz="1950" dirty="0"/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685800" y="920766"/>
            <a:ext cx="8686800" cy="59721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 access in metropolitan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Availability of single-category rentals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Online booking support</a:t>
            </a:r>
          </a:p>
          <a:p>
            <a:pPr>
              <a:lnSpc>
                <a:spcPct val="15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 commission charges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presence in Tier-2 &amp; Tier-3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Poor support for local vendors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Lack of unified multi-category rental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transparency and analytics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MERITS AND  DEMERITS</a:t>
            </a:r>
            <a:endParaRPr lang="en-IN" sz="1950" dirty="0"/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880" y="1538013"/>
            <a:ext cx="3378011" cy="422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45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Key Features</a:t>
            </a:r>
            <a:endParaRPr lang="en-US" sz="264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9" y="2230427"/>
            <a:ext cx="405349" cy="4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880" y="2804644"/>
            <a:ext cx="1732634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Multi-Category Listings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2880" y="3096704"/>
            <a:ext cx="4471846" cy="432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Bikes, cars, furniture, electronics, home appliances in one unified platform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93" y="2230427"/>
            <a:ext cx="405349" cy="405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3593" y="2804644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 Searching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13594" y="3096704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Filtering by location, availability, and category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79" y="3799270"/>
            <a:ext cx="405349" cy="405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879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Secure Booking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2880" y="4665546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Real-time availability, instant confirmations, automated scheduling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593" y="3799270"/>
            <a:ext cx="405349" cy="405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13593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Review System  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113594" y="4665546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Verified ratings building trust and accountability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9" y="5151931"/>
            <a:ext cx="405349" cy="405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879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Vendor Dashboard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72880" y="6018208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Comprehensive analytics, inventory management, customer insights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593" y="5151931"/>
            <a:ext cx="405349" cy="4053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13593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User Login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113592" y="6031063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Specified profile for each user to list and rent items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3" name="object 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9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30" name="object 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31" name="object 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32" name="object 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3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4" name="object 9"/>
          <p:cNvSpPr txBox="1"/>
          <p:nvPr/>
        </p:nvSpPr>
        <p:spPr>
          <a:xfrm>
            <a:off x="3878800" y="315825"/>
            <a:ext cx="2643698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PROPOSED SYSTEM</a:t>
            </a:r>
            <a:endParaRPr lang="en-IN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/>
          <p:cNvSpPr txBox="1"/>
          <p:nvPr/>
        </p:nvSpPr>
        <p:spPr>
          <a:xfrm>
            <a:off x="3218940" y="361990"/>
            <a:ext cx="39624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     SYSTEM ARCHITECTURE</a:t>
            </a:r>
            <a:endParaRPr lang="en-IN" sz="1950" dirty="0"/>
          </a:p>
        </p:txBody>
      </p:sp>
      <p:pic>
        <p:nvPicPr>
          <p:cNvPr id="9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9101D-5097-2146-C8A0-E6911D584E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31" y="845212"/>
            <a:ext cx="5936338" cy="6464819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EE9D-73BF-F845-3399-ACF7B186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7B82537-46BF-9904-6F7B-450C689A5D46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1530BF5-A643-B57D-C395-DF7AA513699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50CD45D-0D18-995B-7279-802B2CDBA8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A9D5122-90D1-3193-F83D-1DFD7B0C37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4EB4E0A-4D17-248C-9B33-342B473CEBB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A108D792-AA41-5CB4-4A15-483FD05F8FC9}"/>
              </a:ext>
            </a:extLst>
          </p:cNvPr>
          <p:cNvSpPr txBox="1"/>
          <p:nvPr/>
        </p:nvSpPr>
        <p:spPr>
          <a:xfrm>
            <a:off x="2362200" y="6459490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Home Screen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428849F-FC5D-AE1A-A518-7EDB5AEC0DC4}"/>
              </a:ext>
            </a:extLst>
          </p:cNvPr>
          <p:cNvSpPr txBox="1"/>
          <p:nvPr/>
        </p:nvSpPr>
        <p:spPr>
          <a:xfrm>
            <a:off x="3218940" y="361990"/>
            <a:ext cx="39624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DESIGN &amp; IMPLEMENTATION</a:t>
            </a:r>
            <a:endParaRPr lang="en-IN" sz="1950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48E7A79-775C-A6B9-EEBC-FB293EB2043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" name="object 4">
            <a:extLst>
              <a:ext uri="{FF2B5EF4-FFF2-40B4-BE49-F238E27FC236}">
                <a16:creationId xmlns:a16="http://schemas.microsoft.com/office/drawing/2014/main" id="{65C7A7F6-034C-5C25-7BAD-F2ACB3C9B34F}"/>
              </a:ext>
            </a:extLst>
          </p:cNvPr>
          <p:cNvSpPr txBox="1"/>
          <p:nvPr/>
        </p:nvSpPr>
        <p:spPr>
          <a:xfrm>
            <a:off x="6943470" y="6408151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Listing Screen</a:t>
            </a: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25D81146-9C4B-1F03-C484-1A17755CA18C}"/>
              </a:ext>
            </a:extLst>
          </p:cNvPr>
          <p:cNvSpPr txBox="1"/>
          <p:nvPr/>
        </p:nvSpPr>
        <p:spPr>
          <a:xfrm>
            <a:off x="4662899" y="3155172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Product Screen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B221CF5A-7B85-36E2-456B-FBF4BC3068D8}"/>
              </a:ext>
            </a:extLst>
          </p:cNvPr>
          <p:cNvSpPr txBox="1"/>
          <p:nvPr/>
        </p:nvSpPr>
        <p:spPr>
          <a:xfrm>
            <a:off x="7944451" y="3155171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Request Screen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731ED7-D0D6-40A0-2D01-339D0C7AE7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353181"/>
            <a:ext cx="2865352" cy="17908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92300E-A577-CC3A-69A3-D86D354FD5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7" y="1364329"/>
            <a:ext cx="2865352" cy="17908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7BACA4-5221-C4DF-A6E3-2BABF17E099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316" y="4392949"/>
            <a:ext cx="3204227" cy="20026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5678EB-B514-20B2-AD5E-346E23348B9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61" y="1343576"/>
            <a:ext cx="2859739" cy="1761194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2A8318D4-8CB1-2BB3-F0B7-BDAF2E7DF3D4}"/>
              </a:ext>
            </a:extLst>
          </p:cNvPr>
          <p:cNvSpPr txBox="1"/>
          <p:nvPr/>
        </p:nvSpPr>
        <p:spPr>
          <a:xfrm>
            <a:off x="6553200" y="4346401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Login Screen</a:t>
            </a:r>
          </a:p>
        </p:txBody>
      </p:sp>
      <p:sp>
        <p:nvSpPr>
          <p:cNvPr id="28" name="object 4">
            <a:extLst>
              <a:ext uri="{FF2B5EF4-FFF2-40B4-BE49-F238E27FC236}">
                <a16:creationId xmlns:a16="http://schemas.microsoft.com/office/drawing/2014/main" id="{6B2D5EAB-B2C0-8FA9-852C-1A570089012B}"/>
              </a:ext>
            </a:extLst>
          </p:cNvPr>
          <p:cNvSpPr txBox="1"/>
          <p:nvPr/>
        </p:nvSpPr>
        <p:spPr>
          <a:xfrm>
            <a:off x="1378472" y="3155174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Login Screen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DAACE1-1D07-3FD4-65E0-45D65784A04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-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672" y="4358961"/>
            <a:ext cx="3243042" cy="202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49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/>
          <p:cNvSpPr txBox="1"/>
          <p:nvPr/>
        </p:nvSpPr>
        <p:spPr>
          <a:xfrm>
            <a:off x="3518976" y="298169"/>
            <a:ext cx="4038601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2400" spc="-10" dirty="0">
                <a:solidFill>
                  <a:srgbClr val="FFFFFF"/>
                </a:solidFill>
              </a:rPr>
              <a:t>         TOOLS USED</a:t>
            </a:r>
            <a:endParaRPr lang="en-IN" sz="2400" dirty="0"/>
          </a:p>
        </p:txBody>
      </p:sp>
      <p:pic>
        <p:nvPicPr>
          <p:cNvPr id="9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636712" y="1165201"/>
            <a:ext cx="9073008" cy="67828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Testing Tools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Thunder Client (API Testing)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Compass</a:t>
            </a: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4340" y="1402569"/>
            <a:ext cx="8991600" cy="41402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proposes a practical and scalable digital rental marketplace platform aimed at addressing the limitations of existing rental systems in Tier-2 and Tier-3 cities. By offering a unified, transparent, and vendor-friendly solution, the platform simplifies access to rental services for users while enhancing digital visibility and operational efficiency for local vendors. 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demonstrates how an application-oriented software design can effectively organize fragmented markets and provide a reliable solution to real-world challenges within the sharing economy.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066920" y="346454"/>
            <a:ext cx="192456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CONCLUSION</a:t>
            </a:r>
            <a:endParaRPr lang="en-IN" sz="1950" dirty="0"/>
          </a:p>
        </p:txBody>
      </p:sp>
      <p:pic>
        <p:nvPicPr>
          <p:cNvPr id="9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048000"/>
            <a:ext cx="9372601" cy="1538883"/>
          </a:xfrm>
        </p:spPr>
        <p:txBody>
          <a:bodyPr/>
          <a:lstStyle/>
          <a:p>
            <a:r>
              <a:rPr lang="en-US" sz="8000" dirty="0">
                <a:solidFill>
                  <a:schemeClr val="accent1"/>
                </a:solidFill>
              </a:rPr>
              <a:t>   </a:t>
            </a:r>
            <a:r>
              <a:rPr lang="en-US" sz="100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100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887</Words>
  <Application>Microsoft Office PowerPoint</Application>
  <PresentationFormat>Custom</PresentationFormat>
  <Paragraphs>167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Palatino Linotype</vt:lpstr>
      <vt:lpstr>Times New Roman</vt:lpstr>
      <vt:lpstr>Office Theme</vt:lpstr>
      <vt:lpstr>TEAM 10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SUCHANDRA ETTI</dc:creator>
  <cp:lastModifiedBy>Suchandra .</cp:lastModifiedBy>
  <cp:revision>39</cp:revision>
  <dcterms:created xsi:type="dcterms:W3CDTF">2025-10-10T08:28:00Z</dcterms:created>
  <dcterms:modified xsi:type="dcterms:W3CDTF">2026-04-25T06:40:13Z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2025-09-12T11:00:00Z</vt:filetime>
  </property>
  <property fmtid="{D5CDD505-2E9C-101B-9397-08002B2CF9AE}" pid="3" name="LastSaved">
    <vt:filetime>2025-10-10T11:00:00Z</vt:filetime>
  </property>
  <property fmtid="{D5CDD505-2E9C-101B-9397-08002B2CF9AE}" pid="4" name="ICV">
    <vt:lpwstr>27263F92C3AB4D38B87879C270328E19_12</vt:lpwstr>
  </property>
  <property fmtid="{D5CDD505-2E9C-101B-9397-08002B2CF9AE}" pid="5" name="KSOProductBuildVer">
    <vt:lpwstr>1033-12.2.0.23196</vt:lpwstr>
  </property>
</Properties>
</file>