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77" r:id="rId2"/>
    <p:sldId id="288" r:id="rId3"/>
    <p:sldId id="280" r:id="rId4"/>
    <p:sldId id="281" r:id="rId5"/>
    <p:sldId id="279" r:id="rId6"/>
    <p:sldId id="262" r:id="rId7"/>
    <p:sldId id="286" r:id="rId8"/>
    <p:sldId id="275" r:id="rId9"/>
    <p:sldId id="263" r:id="rId10"/>
    <p:sldId id="284" r:id="rId11"/>
    <p:sldId id="287" r:id="rId12"/>
    <p:sldId id="285" r:id="rId13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11" autoAdjust="0"/>
    <p:restoredTop sz="94660"/>
  </p:normalViewPr>
  <p:slideViewPr>
    <p:cSldViewPr showGuides="1">
      <p:cViewPr varScale="1">
        <p:scale>
          <a:sx n="111" d="100"/>
          <a:sy n="111" d="100"/>
        </p:scale>
        <p:origin x="1578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5EE2C-3245-4680-9C1E-5FA47D5388E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362D6-2CCC-4180-BBCE-291188C2CC8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4362D6-2CCC-4180-BBCE-291188C2CC85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960" y="7319010"/>
            <a:ext cx="1184291" cy="3886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70788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1371145"/>
          </a:xfrm>
        </p:spPr>
        <p:txBody>
          <a:bodyPr/>
          <a:lstStyle>
            <a:lvl1pPr>
              <a:defRPr sz="2310"/>
            </a:lvl1pPr>
            <a:lvl2pPr>
              <a:defRPr sz="1980"/>
            </a:lvl2pPr>
            <a:lvl3pPr>
              <a:defRPr sz="1650"/>
            </a:lvl3pPr>
            <a:lvl4pPr>
              <a:defRPr sz="1485"/>
            </a:lvl4pPr>
            <a:lvl5pPr>
              <a:defRPr sz="1485"/>
            </a:lvl5pPr>
            <a:lvl6pPr>
              <a:defRPr sz="1485"/>
            </a:lvl6pPr>
            <a:lvl7pPr>
              <a:defRPr sz="1485"/>
            </a:lvl7pPr>
            <a:lvl8pPr>
              <a:defRPr sz="1485"/>
            </a:lvl8pPr>
            <a:lvl9pPr>
              <a:defRPr sz="14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1371145"/>
          </a:xfrm>
        </p:spPr>
        <p:txBody>
          <a:bodyPr/>
          <a:lstStyle>
            <a:lvl1pPr>
              <a:defRPr sz="2310"/>
            </a:lvl1pPr>
            <a:lvl2pPr>
              <a:defRPr sz="1980"/>
            </a:lvl2pPr>
            <a:lvl3pPr>
              <a:defRPr sz="1650"/>
            </a:lvl3pPr>
            <a:lvl4pPr>
              <a:defRPr sz="1485"/>
            </a:lvl4pPr>
            <a:lvl5pPr>
              <a:defRPr sz="1485"/>
            </a:lvl5pPr>
            <a:lvl6pPr>
              <a:defRPr sz="1485"/>
            </a:lvl6pPr>
            <a:lvl7pPr>
              <a:defRPr sz="1485"/>
            </a:lvl7pPr>
            <a:lvl8pPr>
              <a:defRPr sz="1485"/>
            </a:lvl8pPr>
            <a:lvl9pPr>
              <a:defRPr sz="14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02920" y="7228332"/>
            <a:ext cx="2313432" cy="276999"/>
          </a:xfrm>
        </p:spPr>
        <p:txBody>
          <a:bodyPr/>
          <a:lstStyle/>
          <a:p>
            <a:fld id="{BA0D1651-45E6-4A2C-99B8-82F921298F2D}" type="datetime1">
              <a:rPr lang="en-US" smtClean="0"/>
              <a:t>4/8/2026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19856" y="7228332"/>
            <a:ext cx="3218688" cy="276999"/>
          </a:xfrm>
        </p:spPr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7242048" y="7228332"/>
            <a:ext cx="2313432" cy="276999"/>
          </a:xfrm>
        </p:spPr>
        <p:txBody>
          <a:bodyPr/>
          <a:lstStyle/>
          <a:p>
            <a:fld id="{C62155A9-2BEA-4E1A-A809-3AB570F0F1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uffescom.com/blog/how-to-create-a-rental-marketplace-platform" TargetMode="External"/><Relationship Id="rId13" Type="http://schemas.openxmlformats.org/officeDocument/2006/relationships/image" Target="../media/image7.png"/><Relationship Id="rId3" Type="http://schemas.openxmlformats.org/officeDocument/2006/relationships/hyperlink" Target="https://papers.ssrn.com/sol3/papers.cfm?abstract_id=4660386" TargetMode="External"/><Relationship Id="rId7" Type="http://schemas.openxmlformats.org/officeDocument/2006/relationships/hyperlink" Target="https://www.codica.com/blog/how-to-build-a-rental-marketplace/" TargetMode="External"/><Relationship Id="rId12" Type="http://schemas.openxmlformats.org/officeDocument/2006/relationships/image" Target="../media/image9.jpeg"/><Relationship Id="rId2" Type="http://schemas.openxmlformats.org/officeDocument/2006/relationships/hyperlink" Target="https://www.hbs.edu/faculty/Shared%20Documents/conferences/2016-dids/Fraigerber_Sundararajan_March2016.pdf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lameenedu.co.in/pdf/mainprojects_2024/P18AT22M015020.pdf" TargetMode="External"/><Relationship Id="rId11" Type="http://schemas.openxmlformats.org/officeDocument/2006/relationships/hyperlink" Target="https://www.futuremarketinsights.com/reports/online-home-rental-market" TargetMode="External"/><Relationship Id="rId5" Type="http://schemas.openxmlformats.org/officeDocument/2006/relationships/hyperlink" Target="https://www.ijert.org/peer-to-peer-online-rental-platform" TargetMode="External"/><Relationship Id="rId15" Type="http://schemas.openxmlformats.org/officeDocument/2006/relationships/image" Target="../media/image8.png"/><Relationship Id="rId10" Type="http://schemas.openxmlformats.org/officeDocument/2006/relationships/hyperlink" Target="https://ijcrt.org/papers/IJCRT2104681.pdf" TargetMode="External"/><Relationship Id="rId4" Type="http://schemas.openxmlformats.org/officeDocument/2006/relationships/hyperlink" Target="https://papers.ssrn.com/sol3/papers.cfm?abstract_id=2574337" TargetMode="External"/><Relationship Id="rId9" Type="http://schemas.openxmlformats.org/officeDocument/2006/relationships/hyperlink" Target="https://secp.prabodhanamfoundation.org/csn/index.php/csn-secp/article/download/85/83" TargetMode="External"/><Relationship Id="rId1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7.png"/><Relationship Id="rId5" Type="http://schemas.openxmlformats.org/officeDocument/2006/relationships/image" Target="../media/image12.png"/><Relationship Id="rId10" Type="http://schemas.openxmlformats.org/officeDocument/2006/relationships/image" Target="../media/image9.jpe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9.jpeg"/><Relationship Id="rId4" Type="http://schemas.openxmlformats.org/officeDocument/2006/relationships/image" Target="../media/image8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9288" y="381000"/>
            <a:ext cx="3356471" cy="45761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10001" y="1162609"/>
            <a:ext cx="2403262" cy="285400"/>
          </a:xfrm>
          <a:prstGeom prst="rect">
            <a:avLst/>
          </a:prstGeom>
        </p:spPr>
        <p:txBody>
          <a:bodyPr vert="horz" wrap="square" lIns="0" tIns="8320" rIns="0" bIns="0" rtlCol="0" anchor="ctr">
            <a:spAutoFit/>
          </a:bodyPr>
          <a:lstStyle/>
          <a:p>
            <a:pPr marL="9525" algn="ctr">
              <a:spcBef>
                <a:spcPts val="65"/>
              </a:spcBef>
            </a:pPr>
            <a:r>
              <a:rPr lang="en-IN" sz="1800" spc="-7" dirty="0"/>
              <a:t>Third Project Review</a:t>
            </a:r>
            <a:endParaRPr sz="1800" spc="-7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822266" y="2057400"/>
            <a:ext cx="6370513" cy="5675225"/>
          </a:xfrm>
          <a:prstGeom prst="rect">
            <a:avLst/>
          </a:prstGeom>
        </p:spPr>
        <p:txBody>
          <a:bodyPr vert="horz" wrap="square" lIns="0" tIns="12019" rIns="0" bIns="0" rtlCol="0">
            <a:spAutoFit/>
          </a:bodyPr>
          <a:lstStyle/>
          <a:p>
            <a:pPr algn="ctr">
              <a:spcBef>
                <a:spcPts val="95"/>
              </a:spcBef>
            </a:pPr>
            <a:r>
              <a:rPr lang="en-US" sz="2000" dirty="0"/>
              <a:t>One-Stop Digital Rental Marketplace Platform</a:t>
            </a:r>
          </a:p>
          <a:p>
            <a:pPr algn="ctr">
              <a:spcBef>
                <a:spcPts val="95"/>
              </a:spcBef>
            </a:pPr>
            <a:endParaRPr lang="en-US" sz="1800" dirty="0"/>
          </a:p>
          <a:p>
            <a:pPr algn="ctr">
              <a:spcBef>
                <a:spcPts val="95"/>
              </a:spcBef>
            </a:pPr>
            <a:endParaRPr lang="en-IN" sz="1800" dirty="0">
              <a:solidFill>
                <a:srgbClr val="FF0000"/>
              </a:solidFill>
            </a:endParaRPr>
          </a:p>
          <a:p>
            <a:pPr algn="ctr">
              <a:spcBef>
                <a:spcPts val="95"/>
              </a:spcBef>
            </a:pPr>
            <a:endParaRPr lang="en-IN" sz="1800" dirty="0">
              <a:solidFill>
                <a:srgbClr val="FF0000"/>
              </a:solidFill>
            </a:endParaRPr>
          </a:p>
          <a:p>
            <a:pPr algn="ctr">
              <a:spcBef>
                <a:spcPts val="95"/>
              </a:spcBef>
            </a:pPr>
            <a:r>
              <a:rPr sz="1800" dirty="0">
                <a:solidFill>
                  <a:srgbClr val="FF0000"/>
                </a:solidFill>
              </a:rPr>
              <a:t>Presented</a:t>
            </a:r>
            <a:r>
              <a:rPr sz="1800" spc="59" dirty="0">
                <a:solidFill>
                  <a:srgbClr val="FF0000"/>
                </a:solidFill>
              </a:rPr>
              <a:t> </a:t>
            </a:r>
            <a:r>
              <a:rPr sz="1800" spc="-18" dirty="0">
                <a:solidFill>
                  <a:srgbClr val="FF0000"/>
                </a:solidFill>
              </a:rPr>
              <a:t>b</a:t>
            </a:r>
            <a:r>
              <a:rPr lang="en-US" sz="1800" spc="-18" dirty="0">
                <a:solidFill>
                  <a:srgbClr val="FF0000"/>
                </a:solidFill>
              </a:rPr>
              <a:t>y</a:t>
            </a:r>
            <a:endParaRPr lang="en-IN" sz="1800" spc="-18" dirty="0">
              <a:solidFill>
                <a:srgbClr val="FF0000"/>
              </a:solidFill>
            </a:endParaRPr>
          </a:p>
          <a:p>
            <a:pPr algn="ctr">
              <a:spcBef>
                <a:spcPts val="95"/>
              </a:spcBef>
            </a:pPr>
            <a:r>
              <a:rPr lang="en-IN" sz="1800" spc="-7" dirty="0">
                <a:solidFill>
                  <a:srgbClr val="17375E"/>
                </a:solidFill>
                <a:latin typeface="Palatino Linotype" panose="02040502050505030304" pitchFamily="18" charset="0"/>
              </a:rPr>
              <a:t>        </a:t>
            </a:r>
            <a:r>
              <a:rPr lang="en-IN" sz="1800" spc="-7" dirty="0" err="1">
                <a:solidFill>
                  <a:srgbClr val="17375E"/>
                </a:solidFill>
                <a:latin typeface="Palatino Linotype" panose="02040502050505030304" pitchFamily="18" charset="0"/>
              </a:rPr>
              <a:t>Bachala</a:t>
            </a:r>
            <a:r>
              <a:rPr lang="en-IN" sz="1800" spc="-7" dirty="0">
                <a:solidFill>
                  <a:srgbClr val="17375E"/>
                </a:solidFill>
                <a:latin typeface="Palatino Linotype" panose="02040502050505030304" pitchFamily="18" charset="0"/>
              </a:rPr>
              <a:t> Prudvi Satya Teja   (22A91A0565)</a:t>
            </a:r>
          </a:p>
          <a:p>
            <a:pPr algn="ctr">
              <a:spcBef>
                <a:spcPts val="545"/>
              </a:spcBef>
            </a:pPr>
            <a:r>
              <a:rPr lang="en-IN" sz="1800" spc="-7" dirty="0">
                <a:solidFill>
                  <a:srgbClr val="17375E"/>
                </a:solidFill>
                <a:latin typeface="Palatino Linotype" panose="02040502050505030304" pitchFamily="18" charset="0"/>
              </a:rPr>
              <a:t>        Etti S n v </a:t>
            </a:r>
            <a:r>
              <a:rPr lang="en-IN" sz="1800" spc="-7" dirty="0" err="1">
                <a:solidFill>
                  <a:srgbClr val="17375E"/>
                </a:solidFill>
                <a:latin typeface="Palatino Linotype" panose="02040502050505030304" pitchFamily="18" charset="0"/>
              </a:rPr>
              <a:t>v</a:t>
            </a:r>
            <a:r>
              <a:rPr lang="en-IN" sz="1800" spc="-7" dirty="0">
                <a:solidFill>
                  <a:srgbClr val="17375E"/>
                </a:solidFill>
                <a:latin typeface="Palatino Linotype" panose="02040502050505030304" pitchFamily="18" charset="0"/>
              </a:rPr>
              <a:t> Suchandra          (22A91A057</a:t>
            </a:r>
            <a:r>
              <a:rPr lang="en-US" altLang="en-IN" sz="1800" spc="-7" dirty="0">
                <a:solidFill>
                  <a:srgbClr val="17375E"/>
                </a:solidFill>
                <a:latin typeface="Palatino Linotype" panose="02040502050505030304" pitchFamily="18" charset="0"/>
              </a:rPr>
              <a:t>0</a:t>
            </a:r>
            <a:r>
              <a:rPr lang="en-IN" sz="1800" spc="-7" dirty="0">
                <a:solidFill>
                  <a:srgbClr val="17375E"/>
                </a:solidFill>
                <a:latin typeface="Palatino Linotype" panose="02040502050505030304" pitchFamily="18" charset="0"/>
              </a:rPr>
              <a:t>)</a:t>
            </a:r>
          </a:p>
          <a:p>
            <a:pPr algn="ctr">
              <a:spcBef>
                <a:spcPts val="545"/>
              </a:spcBef>
            </a:pPr>
            <a:r>
              <a:rPr lang="en-IN" sz="1800" spc="-7" dirty="0">
                <a:solidFill>
                  <a:srgbClr val="17375E"/>
                </a:solidFill>
                <a:latin typeface="Palatino Linotype" panose="02040502050505030304" pitchFamily="18" charset="0"/>
              </a:rPr>
              <a:t>        Sandip Pal                               (22A91A0561)</a:t>
            </a:r>
          </a:p>
          <a:p>
            <a:pPr marL="2540" algn="ctr">
              <a:spcBef>
                <a:spcPts val="545"/>
              </a:spcBef>
            </a:pPr>
            <a:endParaRPr lang="en-IN" sz="1800" spc="-7" dirty="0">
              <a:latin typeface="Palatino Linotype" panose="02040502050505030304" pitchFamily="18" charset="0"/>
            </a:endParaRPr>
          </a:p>
          <a:p>
            <a:pPr marL="2540" algn="ctr">
              <a:spcBef>
                <a:spcPts val="545"/>
              </a:spcBef>
            </a:pPr>
            <a:endParaRPr lang="en-IN" sz="1800" spc="-7" dirty="0">
              <a:latin typeface="Palatino Linotype" panose="02040502050505030304" pitchFamily="18" charset="0"/>
            </a:endParaRPr>
          </a:p>
          <a:p>
            <a:pPr marL="2540" algn="ctr">
              <a:spcBef>
                <a:spcPts val="545"/>
              </a:spcBef>
            </a:pPr>
            <a:endParaRPr lang="en-IN" sz="1800" spc="-7" dirty="0">
              <a:latin typeface="Palatino Linotype" panose="02040502050505030304" pitchFamily="18" charset="0"/>
            </a:endParaRPr>
          </a:p>
          <a:p>
            <a:pPr algn="ctr">
              <a:spcBef>
                <a:spcPts val="725"/>
              </a:spcBef>
            </a:pPr>
            <a:r>
              <a:rPr sz="1800" dirty="0">
                <a:solidFill>
                  <a:srgbClr val="943735"/>
                </a:solidFill>
              </a:rPr>
              <a:t>Department</a:t>
            </a:r>
            <a:r>
              <a:rPr sz="1800" spc="-44" dirty="0">
                <a:solidFill>
                  <a:srgbClr val="943735"/>
                </a:solidFill>
              </a:rPr>
              <a:t> </a:t>
            </a:r>
            <a:r>
              <a:rPr sz="1800" dirty="0">
                <a:solidFill>
                  <a:srgbClr val="943735"/>
                </a:solidFill>
              </a:rPr>
              <a:t>of</a:t>
            </a:r>
            <a:r>
              <a:rPr sz="1800" spc="-21" dirty="0">
                <a:solidFill>
                  <a:srgbClr val="943735"/>
                </a:solidFill>
              </a:rPr>
              <a:t> </a:t>
            </a:r>
            <a:r>
              <a:rPr sz="1800" dirty="0">
                <a:solidFill>
                  <a:srgbClr val="943735"/>
                </a:solidFill>
              </a:rPr>
              <a:t>Computer</a:t>
            </a:r>
            <a:r>
              <a:rPr sz="1800" spc="-18" dirty="0">
                <a:solidFill>
                  <a:srgbClr val="943735"/>
                </a:solidFill>
              </a:rPr>
              <a:t> </a:t>
            </a:r>
            <a:r>
              <a:rPr sz="1800" dirty="0">
                <a:solidFill>
                  <a:srgbClr val="943735"/>
                </a:solidFill>
              </a:rPr>
              <a:t>Science</a:t>
            </a:r>
            <a:r>
              <a:rPr sz="1800" spc="-21" dirty="0">
                <a:solidFill>
                  <a:srgbClr val="943735"/>
                </a:solidFill>
              </a:rPr>
              <a:t> </a:t>
            </a:r>
            <a:r>
              <a:rPr sz="1800" dirty="0">
                <a:solidFill>
                  <a:srgbClr val="943735"/>
                </a:solidFill>
              </a:rPr>
              <a:t>&amp;</a:t>
            </a:r>
            <a:r>
              <a:rPr sz="1800" spc="-18" dirty="0">
                <a:solidFill>
                  <a:srgbClr val="943735"/>
                </a:solidFill>
              </a:rPr>
              <a:t> </a:t>
            </a:r>
            <a:r>
              <a:rPr sz="1800" spc="-7" dirty="0">
                <a:solidFill>
                  <a:srgbClr val="943735"/>
                </a:solidFill>
              </a:rPr>
              <a:t>Engineering</a:t>
            </a:r>
            <a:endParaRPr lang="en-IN" sz="1800" spc="-7" dirty="0">
              <a:solidFill>
                <a:srgbClr val="943735"/>
              </a:solidFill>
            </a:endParaRPr>
          </a:p>
          <a:p>
            <a:pPr algn="ctr">
              <a:spcBef>
                <a:spcPts val="725"/>
              </a:spcBef>
            </a:pPr>
            <a:endParaRPr lang="en-IN" sz="1800" spc="-7" dirty="0">
              <a:solidFill>
                <a:srgbClr val="943735"/>
              </a:solidFill>
            </a:endParaRPr>
          </a:p>
          <a:p>
            <a:pPr algn="ctr">
              <a:spcBef>
                <a:spcPts val="725"/>
              </a:spcBef>
            </a:pPr>
            <a:endParaRPr lang="en-IN" sz="1800" spc="-7" dirty="0">
              <a:solidFill>
                <a:srgbClr val="943735"/>
              </a:solidFill>
            </a:endParaRPr>
          </a:p>
          <a:p>
            <a:pPr algn="ctr">
              <a:spcBef>
                <a:spcPts val="725"/>
              </a:spcBef>
            </a:pPr>
            <a:r>
              <a:rPr lang="en-IN" sz="1800" spc="-7" dirty="0">
                <a:solidFill>
                  <a:srgbClr val="FF0000"/>
                </a:solidFill>
              </a:rPr>
              <a:t>Name of the Supervisor:</a:t>
            </a:r>
          </a:p>
          <a:p>
            <a:pPr algn="ctr">
              <a:spcBef>
                <a:spcPts val="725"/>
              </a:spcBef>
            </a:pPr>
            <a:r>
              <a:rPr lang="en-IN" sz="1800" spc="-15" dirty="0">
                <a:solidFill>
                  <a:srgbClr val="17375E"/>
                </a:solidFill>
              </a:rPr>
              <a:t>Mr. UV Ramesh </a:t>
            </a:r>
            <a:r>
              <a:rPr lang="en-IN" sz="1600" spc="-15" dirty="0" err="1">
                <a:solidFill>
                  <a:srgbClr val="17375E"/>
                </a:solidFill>
              </a:rPr>
              <a:t>M.Tech</a:t>
            </a:r>
            <a:r>
              <a:rPr lang="en-IN" sz="1600" spc="-15" dirty="0">
                <a:solidFill>
                  <a:srgbClr val="17375E"/>
                </a:solidFill>
              </a:rPr>
              <a:t>(</a:t>
            </a:r>
            <a:r>
              <a:rPr lang="en-IN" sz="1600" spc="-15" dirty="0" err="1">
                <a:solidFill>
                  <a:srgbClr val="17375E"/>
                </a:solidFill>
              </a:rPr>
              <a:t>Ph.D</a:t>
            </a:r>
            <a:r>
              <a:rPr lang="en-IN" sz="1600" spc="-15" dirty="0">
                <a:solidFill>
                  <a:srgbClr val="17375E"/>
                </a:solidFill>
              </a:rPr>
              <a:t>) </a:t>
            </a:r>
          </a:p>
          <a:p>
            <a:pPr algn="ctr">
              <a:spcBef>
                <a:spcPts val="725"/>
              </a:spcBef>
            </a:pPr>
            <a:r>
              <a:rPr lang="en-IN" sz="1800" spc="-15" dirty="0">
                <a:solidFill>
                  <a:srgbClr val="17375E"/>
                </a:solidFill>
              </a:rPr>
              <a:t>Assistant 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99986" y="1728049"/>
            <a:ext cx="6858000" cy="4905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 panose="02040503050406030204"/>
              <a:buAutoNum type="arabicPeriod"/>
              <a:tabLst>
                <a:tab pos="389890" algn="l"/>
              </a:tabLst>
            </a:pPr>
            <a:r>
              <a:rPr lang="en-US" sz="195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US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Project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US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Merits  And Demerits In Previous Methods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195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1950" spc="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GB" sz="195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GB" sz="195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Tools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GB" sz="195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endParaRPr lang="en-GB" sz="1950" spc="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object 3"/>
          <p:cNvGrpSpPr/>
          <p:nvPr/>
        </p:nvGrpSpPr>
        <p:grpSpPr>
          <a:xfrm>
            <a:off x="2667000" y="152400"/>
            <a:ext cx="5197429" cy="1288015"/>
            <a:chOff x="2648188" y="47148"/>
            <a:chExt cx="5103904" cy="1198311"/>
          </a:xfrm>
        </p:grpSpPr>
        <p:pic>
          <p:nvPicPr>
            <p:cNvPr id="10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12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3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+mj-lt"/>
                  <a:ea typeface="Cambria" panose="02040503050406030204" pitchFamily="18" charset="0"/>
                  <a:cs typeface="Times New Roman" panose="02020603050405020304" pitchFamily="18" charset="0"/>
                </a:rPr>
                <a:t>OUTLINE OF THE TALK</a:t>
              </a:r>
              <a:endParaRPr sz="2800" dirty="0">
                <a:solidFill>
                  <a:schemeClr val="bg1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0688" y="40579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48188" y="47148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037614" y="304918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IN" sz="1950" spc="-10" dirty="0">
                <a:solidFill>
                  <a:srgbClr val="FFFFFF"/>
                </a:solidFill>
              </a:rPr>
              <a:t>ABSTRACT</a:t>
            </a:r>
            <a:endParaRPr sz="1950" dirty="0"/>
          </a:p>
        </p:txBody>
      </p:sp>
      <p:sp>
        <p:nvSpPr>
          <p:cNvPr id="2" name="object 4"/>
          <p:cNvSpPr txBox="1"/>
          <p:nvPr/>
        </p:nvSpPr>
        <p:spPr>
          <a:xfrm>
            <a:off x="742440" y="1340744"/>
            <a:ext cx="8915400" cy="500265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US" dirty="0"/>
              <a:t>The rapid growth of the sharing economy has increased the demand for rental services; however, organized rental platforms are mostly limited to metropolitan cities. Users in Tier-2 and Tier-3 cities face difficulties in finding reliable rental services, while local vendors struggle with visibility and customer reach.</a:t>
            </a:r>
          </a:p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endParaRPr lang="en-US" dirty="0"/>
          </a:p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US" dirty="0"/>
              <a:t>This project proposes  a one-stop digital rental marketplace platform that connects users with verified local vendors for renting items such as bikes, cars, furniture, electronics, and home appliances. </a:t>
            </a:r>
          </a:p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endParaRPr lang="en-US" dirty="0"/>
          </a:p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US" dirty="0"/>
              <a:t>The system focuses on transparency, ease of access, and vendor empowerment through a commission-free model. This aims to provide a secure and scalable platform that simplifies the rental process for users while supporting local businesses</a:t>
            </a:r>
            <a:endParaRPr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8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48188" y="47148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" name="object 4"/>
          <p:cNvSpPr txBox="1"/>
          <p:nvPr/>
        </p:nvSpPr>
        <p:spPr>
          <a:xfrm>
            <a:off x="706278" y="1078668"/>
            <a:ext cx="8991600" cy="5015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endParaRPr lang="en-US" dirty="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WEB APPLICATION DEVELOPMENT AND DIGITAL MARKETPLACE SYSTEMS</a:t>
            </a:r>
          </a:p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endParaRPr lang="en-US" altLang="en-US" dirty="0"/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altLang="en-US" dirty="0"/>
              <a:t>Digital marketplace platforms enable users and service providers to interact through centralized online systems. Such platforms play a crucial role in organizing unstructured markets by providing search, booking, and trust mechanisms.</a:t>
            </a:r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endParaRPr lang="en-US" altLang="en-US" dirty="0"/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altLang="en-US" dirty="0"/>
              <a:t>This project falls under application-oriented system development, where modern web technologies are used to design and implement a scalable rental marketplace. The focus is on system architecture, usability, and real-world problem solving rather than algorithmic research.</a:t>
            </a:r>
            <a:endParaRPr lang="en-US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1" name="object 9"/>
          <p:cNvSpPr txBox="1"/>
          <p:nvPr/>
        </p:nvSpPr>
        <p:spPr>
          <a:xfrm>
            <a:off x="3237245" y="346454"/>
            <a:ext cx="3925790" cy="3162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ea typeface="+mj-ea"/>
                <a:cs typeface="Palatino Linotype" panose="02040502050505030304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IN" sz="1950" spc="-10" dirty="0">
                <a:solidFill>
                  <a:srgbClr val="FFFFFF"/>
                </a:solidFill>
              </a:rPr>
              <a:t>INTRODUCTION TO </a:t>
            </a:r>
            <a:r>
              <a:rPr lang="en-US" altLang="en-IN" sz="1950" spc="-10" dirty="0">
                <a:solidFill>
                  <a:srgbClr val="FFFFFF"/>
                </a:solidFill>
              </a:rPr>
              <a:t>PROJECT</a:t>
            </a:r>
            <a:endParaRPr lang="en-IN" sz="1950" dirty="0"/>
          </a:p>
        </p:txBody>
      </p:sp>
      <p:pic>
        <p:nvPicPr>
          <p:cNvPr id="10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61204578"/>
              </p:ext>
            </p:extLst>
          </p:nvPr>
        </p:nvGraphicFramePr>
        <p:xfrm>
          <a:off x="706341" y="1247148"/>
          <a:ext cx="8830436" cy="51822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5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2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2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6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38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b="1"/>
                        <a:t>No.</a:t>
                      </a:r>
                    </a:p>
                  </a:txBody>
                  <a:tcPr marL="14584" marR="14584" marT="7292" marB="7292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b="1" dirty="0"/>
                        <a:t>Title</a:t>
                      </a:r>
                    </a:p>
                  </a:txBody>
                  <a:tcPr marL="14584" marR="14584" marT="7292" marB="7292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b="1"/>
                        <a:t>Authors</a:t>
                      </a:r>
                    </a:p>
                  </a:txBody>
                  <a:tcPr marL="14584" marR="14584" marT="7292" marB="7292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b="1"/>
                        <a:t>Year</a:t>
                      </a:r>
                    </a:p>
                  </a:txBody>
                  <a:tcPr marL="14584" marR="14584" marT="7292" marB="7292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b="1" dirty="0"/>
                        <a:t>Publication Site / Journal / Conference</a:t>
                      </a:r>
                    </a:p>
                  </a:txBody>
                  <a:tcPr marL="14584" marR="14584" marT="7292" marB="7292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1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Peer-to-Peer Rental Markets in the Sharing Economy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Fraiberger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S. &amp; Sundararajan, A.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2016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Harvard Business School (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PDF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Which Product Categories Welcome Peer-to-Peer Product Rental Market?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Hirao, Morifumi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2023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SSRN (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SSRN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sv-SE" sz="12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3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Peer-to-Peer Rental Markets in the Sharing Economy (SSRN Version)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</a:rPr>
                        <a:t>Fraiberger</a:t>
                      </a:r>
                      <a:r>
                        <a:rPr lang="en-US" sz="1200" dirty="0">
                          <a:effectLst/>
                        </a:rPr>
                        <a:t>, S. P.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2017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SSRN (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SSRN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6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4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Peer to Peer Online Rental Platform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IJERT Research Team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2022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International Journal of Engineering Research &amp; Technology (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IJERT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5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Study on Competitive Strategy Adopted by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NoBroker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Academic Research Paper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2024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Alameen Educational Institution (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PDF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6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 to Build a Rental Marketplace: Ultimate Guide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Codica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Development Team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2025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Codica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Blog (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Codica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7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 to Build a Rental Marketplace Platform: Cost &amp; Steps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Suffescom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Solutions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2025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Suffescom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Blog (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Suffescom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8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Rent Ease-A Modern Rental Platform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Mohammed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Raffiyutheen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J.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2024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CSN-SECP Journal (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/>
                        </a:rPr>
                        <a:t>PDF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7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9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Survey on Online Renting Platforms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IJCRT Research Team</a:t>
                      </a:r>
                      <a:endParaRPr lang="fi-FI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2021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International Journal of Creative Research Thoughts (</a:t>
                      </a:r>
                      <a:r>
                        <a:rPr lang="en-US" sz="1200" dirty="0">
                          <a:effectLst/>
                          <a:hlinkClick r:id="rId10"/>
                        </a:rPr>
                        <a:t>IJCRT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65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10</a:t>
                      </a:r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Online Home Rental Market Size, Trends &amp; Forecast 2025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Future Market Insights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2025</a:t>
                      </a:r>
                      <a:endParaRPr lang="en-IN" sz="1200" dirty="0"/>
                    </a:p>
                  </a:txBody>
                  <a:tcPr marL="14584" marR="14584" marT="7292" marB="72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Market Research Report (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1"/>
                        </a:rPr>
                        <a:t>FMI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200" dirty="0"/>
                    </a:p>
                  </a:txBody>
                  <a:tcPr marL="14584" marR="14584" marT="7292" marB="7292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4" name="object 3"/>
          <p:cNvGrpSpPr/>
          <p:nvPr/>
        </p:nvGrpSpPr>
        <p:grpSpPr>
          <a:xfrm>
            <a:off x="2648188" y="204311"/>
            <a:ext cx="5103904" cy="1198311"/>
            <a:chOff x="2648188" y="47148"/>
            <a:chExt cx="5103904" cy="1198311"/>
          </a:xfrm>
        </p:grpSpPr>
        <p:pic>
          <p:nvPicPr>
            <p:cNvPr id="5" name="object 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9"/>
          <p:cNvSpPr txBox="1"/>
          <p:nvPr/>
        </p:nvSpPr>
        <p:spPr>
          <a:xfrm>
            <a:off x="3942840" y="503617"/>
            <a:ext cx="2514600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ea typeface="+mj-ea"/>
                <a:cs typeface="Palatino Linotype" panose="02040502050505030304"/>
              </a:defRPr>
            </a:lvl1pPr>
          </a:lstStyle>
          <a:p>
            <a:pPr algn="ctr"/>
            <a:r>
              <a:rPr lang="en-IN" sz="2000" spc="-1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6322708"/>
            <a:ext cx="9372600" cy="97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745"/>
              </a:lnSpc>
            </a:pPr>
            <a:r>
              <a:rPr lang="en-US" b="1" dirty="0">
                <a:solidFill>
                  <a:srgbClr val="272D45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Observation:</a:t>
            </a:r>
          </a:p>
          <a:p>
            <a:pPr>
              <a:lnSpc>
                <a:spcPts val="3745"/>
              </a:lnSpc>
            </a:pPr>
            <a:r>
              <a:rPr lang="en-US" dirty="0">
                <a:solidFill>
                  <a:srgbClr val="272D45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Most existing platforms focus on specific rental categories and metropolitan users.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48188" y="47148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4"/>
          <p:cNvSpPr txBox="1"/>
          <p:nvPr/>
        </p:nvSpPr>
        <p:spPr>
          <a:xfrm>
            <a:off x="685800" y="920766"/>
            <a:ext cx="8686800" cy="59721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Merits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Easy access in metropolitan cities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Availability of single-category rentals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Online booking support</a:t>
            </a:r>
          </a:p>
          <a:p>
            <a:pPr>
              <a:lnSpc>
                <a:spcPct val="150000"/>
              </a:lnSpc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Demerits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High commission charges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Limited presence in Tier-2 &amp; Tier-3 cities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Poor support for local vendors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Lack of unified multi-category rental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Limited transparency and analytics</a:t>
            </a:r>
          </a:p>
        </p:txBody>
      </p:sp>
      <p:sp>
        <p:nvSpPr>
          <p:cNvPr id="11" name="object 9"/>
          <p:cNvSpPr txBox="1"/>
          <p:nvPr/>
        </p:nvSpPr>
        <p:spPr>
          <a:xfrm>
            <a:off x="3539245" y="346454"/>
            <a:ext cx="3348734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ea typeface="+mj-ea"/>
                <a:cs typeface="Palatino Linotype" panose="02040502050505030304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IN" sz="1950" spc="-10" dirty="0">
                <a:solidFill>
                  <a:srgbClr val="FFFFFF"/>
                </a:solidFill>
              </a:rPr>
              <a:t>MERITS AND  DEMERITS</a:t>
            </a:r>
            <a:endParaRPr lang="en-IN" sz="1950" dirty="0"/>
          </a:p>
        </p:txBody>
      </p:sp>
      <p:pic>
        <p:nvPicPr>
          <p:cNvPr id="8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48188" y="47148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4"/>
          <p:cNvSpPr txBox="1"/>
          <p:nvPr/>
        </p:nvSpPr>
        <p:spPr>
          <a:xfrm>
            <a:off x="685800" y="920766"/>
            <a:ext cx="8686800" cy="524887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Users in Tier-2 and Tier-3 cities face difficulties in accessing reliable rental services due to fragmented local markets, lack of trust mechanisms, and the absence of centralized digital platforms.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At the same time, local rental vendors struggle with low visibility, high marketing costs, and limited digital reach, which restricts their ability to attract customers efficiently.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Existing rental platforms are largely single-category, commission-based, and focused on metropolitan areas, making them unsuitable for addressing the needs of smaller cities.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Therefore, there is a need for a unified, transparent, and user-friendly digital rental marketplace that supports multi-category rentals and enables efficient interaction between users and vendors while ensuring accessibility and trust.</a:t>
            </a:r>
          </a:p>
        </p:txBody>
      </p:sp>
      <p:sp>
        <p:nvSpPr>
          <p:cNvPr id="11" name="object 9"/>
          <p:cNvSpPr txBox="1"/>
          <p:nvPr/>
        </p:nvSpPr>
        <p:spPr>
          <a:xfrm>
            <a:off x="3539245" y="346454"/>
            <a:ext cx="3348734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ea typeface="+mj-ea"/>
                <a:cs typeface="Palatino Linotype" panose="02040502050505030304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IN" sz="1950" spc="-10" dirty="0">
                <a:solidFill>
                  <a:srgbClr val="FFFFFF"/>
                </a:solidFill>
              </a:rPr>
              <a:t>PROBLEM STATEMENT</a:t>
            </a:r>
            <a:endParaRPr lang="en-IN" sz="1950" dirty="0"/>
          </a:p>
        </p:txBody>
      </p:sp>
      <p:pic>
        <p:nvPicPr>
          <p:cNvPr id="8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880" y="1538013"/>
            <a:ext cx="3378011" cy="4222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645" dirty="0">
                <a:solidFill>
                  <a:srgbClr val="272D45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Key Features</a:t>
            </a:r>
            <a:endParaRPr lang="en-US" sz="264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79" y="2230427"/>
            <a:ext cx="405349" cy="4053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2880" y="2804644"/>
            <a:ext cx="1732634" cy="2110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305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Multi-Category Listings</a:t>
            </a:r>
            <a:endParaRPr lang="en-US" sz="130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72880" y="3096704"/>
            <a:ext cx="4471846" cy="432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030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Martel Sans" pitchFamily="34" charset="-120"/>
              </a:rPr>
              <a:t>Bikes, cars, furniture, electronics, home appliances in one unified platform</a:t>
            </a:r>
            <a:endParaRPr lang="en-US" sz="103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593" y="2230427"/>
            <a:ext cx="405349" cy="4053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13593" y="2804644"/>
            <a:ext cx="1689006" cy="2110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305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Advanced Search</a:t>
            </a:r>
            <a:endParaRPr lang="en-US" sz="130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113594" y="3096704"/>
            <a:ext cx="4471928" cy="2161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030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Martel Sans" pitchFamily="34" charset="-120"/>
              </a:rPr>
              <a:t>Intelligent filtering by location, price, availability, and category</a:t>
            </a:r>
            <a:endParaRPr lang="en-US" sz="103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79" y="3799270"/>
            <a:ext cx="405349" cy="40534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2879" y="4373486"/>
            <a:ext cx="1689006" cy="2110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305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Secure Booking</a:t>
            </a:r>
            <a:endParaRPr lang="en-US" sz="130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472880" y="4665546"/>
            <a:ext cx="4471846" cy="2161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030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Martel Sans" pitchFamily="34" charset="-120"/>
              </a:rPr>
              <a:t>Real-time availability, instant confirmations, automated scheduling</a:t>
            </a:r>
            <a:endParaRPr lang="en-US" sz="103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3593" y="3799270"/>
            <a:ext cx="405349" cy="40534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13593" y="4373486"/>
            <a:ext cx="1689006" cy="2110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305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Review System  </a:t>
            </a:r>
            <a:endParaRPr lang="en-US" sz="130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5113594" y="4665546"/>
            <a:ext cx="4471928" cy="2161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030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Martel Sans" pitchFamily="34" charset="-120"/>
              </a:rPr>
              <a:t>Verified ratings building trust and accountability</a:t>
            </a:r>
            <a:endParaRPr lang="en-US" sz="103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879" y="5151931"/>
            <a:ext cx="405349" cy="40534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72879" y="5726148"/>
            <a:ext cx="1689006" cy="2110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305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Vendor Dashboard</a:t>
            </a:r>
            <a:endParaRPr lang="en-US" sz="130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472880" y="6018208"/>
            <a:ext cx="4471846" cy="2161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030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Martel Sans" pitchFamily="34" charset="-120"/>
              </a:rPr>
              <a:t>Comprehensive analytics, inventory management, customer insights</a:t>
            </a:r>
            <a:endParaRPr lang="en-US" sz="103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3593" y="5151931"/>
            <a:ext cx="405349" cy="40534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13593" y="5726148"/>
            <a:ext cx="1689006" cy="2110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305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Kanit Light" pitchFamily="34" charset="-120"/>
              </a:rPr>
              <a:t>User Login</a:t>
            </a:r>
            <a:endParaRPr lang="en-US" sz="130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5113594" y="6018208"/>
            <a:ext cx="4471928" cy="2161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685"/>
              </a:lnSpc>
            </a:pPr>
            <a:r>
              <a:rPr lang="en-US" sz="1030" dirty="0">
                <a:solidFill>
                  <a:srgbClr val="2C3249"/>
                </a:solidFill>
                <a:latin typeface="Cambria" panose="02040503050406030204" pitchFamily="18" charset="0"/>
                <a:ea typeface="Cambria" panose="02040503050406030204" pitchFamily="18" charset="0"/>
                <a:cs typeface="Martel Sans" pitchFamily="34" charset="-120"/>
              </a:rPr>
              <a:t>Specified profile for each user to list and rent items</a:t>
            </a:r>
            <a:endParaRPr lang="en-US" sz="103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0896" y="6322164"/>
            <a:ext cx="1367504" cy="392961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7888" y="7254713"/>
            <a:ext cx="1657581" cy="476316"/>
          </a:xfrm>
          <a:prstGeom prst="rect">
            <a:avLst/>
          </a:prstGeom>
        </p:spPr>
      </p:pic>
      <p:pic>
        <p:nvPicPr>
          <p:cNvPr id="23" name="object 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9" name="object 3"/>
          <p:cNvGrpSpPr/>
          <p:nvPr/>
        </p:nvGrpSpPr>
        <p:grpSpPr>
          <a:xfrm>
            <a:off x="2648188" y="47148"/>
            <a:ext cx="5103904" cy="1198311"/>
            <a:chOff x="2648188" y="47148"/>
            <a:chExt cx="5103904" cy="1198311"/>
          </a:xfrm>
        </p:grpSpPr>
        <p:pic>
          <p:nvPicPr>
            <p:cNvPr id="30" name="object 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31" name="object 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32" name="object 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33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4" name="object 9"/>
          <p:cNvSpPr txBox="1"/>
          <p:nvPr/>
        </p:nvSpPr>
        <p:spPr>
          <a:xfrm>
            <a:off x="3878800" y="315825"/>
            <a:ext cx="2643698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ea typeface="+mj-ea"/>
                <a:cs typeface="Palatino Linotype" panose="02040502050505030304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IN" sz="1950" spc="-10" dirty="0">
                <a:solidFill>
                  <a:srgbClr val="FFFFFF"/>
                </a:solidFill>
              </a:rPr>
              <a:t>PROPOSED SYSTEM</a:t>
            </a:r>
            <a:endParaRPr lang="en-IN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48188" y="47148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4"/>
          <p:cNvSpPr txBox="1"/>
          <p:nvPr/>
        </p:nvSpPr>
        <p:spPr>
          <a:xfrm>
            <a:off x="3365712" y="5544235"/>
            <a:ext cx="1505459" cy="2594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US" altLang="en-US" sz="1200" dirty="0"/>
              <a:t>Home Screen</a:t>
            </a:r>
          </a:p>
        </p:txBody>
      </p:sp>
      <p:sp>
        <p:nvSpPr>
          <p:cNvPr id="11" name="object 9"/>
          <p:cNvSpPr txBox="1"/>
          <p:nvPr/>
        </p:nvSpPr>
        <p:spPr>
          <a:xfrm>
            <a:off x="3218940" y="361990"/>
            <a:ext cx="3962400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ea typeface="+mj-ea"/>
                <a:cs typeface="Palatino Linotype" panose="02040502050505030304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IN" sz="1950" spc="-10" dirty="0">
                <a:solidFill>
                  <a:srgbClr val="FFFFFF"/>
                </a:solidFill>
              </a:rPr>
              <a:t>DESIGN &amp; IMPLEMENTATION</a:t>
            </a:r>
            <a:endParaRPr lang="en-IN" sz="1950" dirty="0"/>
          </a:p>
        </p:txBody>
      </p:sp>
      <p:pic>
        <p:nvPicPr>
          <p:cNvPr id="9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00" y="1676400"/>
            <a:ext cx="1930783" cy="383818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1683561"/>
            <a:ext cx="1930783" cy="386829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847" y="1683561"/>
            <a:ext cx="1938486" cy="382386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0388" y="1689635"/>
            <a:ext cx="1930783" cy="3824949"/>
          </a:xfrm>
          <a:prstGeom prst="rect">
            <a:avLst/>
          </a:prstGeom>
        </p:spPr>
      </p:pic>
      <p:sp>
        <p:nvSpPr>
          <p:cNvPr id="20" name="object 4"/>
          <p:cNvSpPr txBox="1"/>
          <p:nvPr/>
        </p:nvSpPr>
        <p:spPr>
          <a:xfrm>
            <a:off x="1129024" y="5514584"/>
            <a:ext cx="1505459" cy="2594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US" altLang="en-US" sz="1200" dirty="0"/>
              <a:t>Login Screen</a:t>
            </a:r>
          </a:p>
        </p:txBody>
      </p:sp>
      <p:sp>
        <p:nvSpPr>
          <p:cNvPr id="21" name="object 4"/>
          <p:cNvSpPr txBox="1"/>
          <p:nvPr/>
        </p:nvSpPr>
        <p:spPr>
          <a:xfrm>
            <a:off x="5918460" y="5520323"/>
            <a:ext cx="1505459" cy="2594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US" altLang="en-US" sz="1200" dirty="0"/>
              <a:t>Product Screen</a:t>
            </a:r>
          </a:p>
        </p:txBody>
      </p:sp>
      <p:sp>
        <p:nvSpPr>
          <p:cNvPr id="22" name="object 4"/>
          <p:cNvSpPr txBox="1"/>
          <p:nvPr/>
        </p:nvSpPr>
        <p:spPr>
          <a:xfrm>
            <a:off x="8275963" y="5551855"/>
            <a:ext cx="1505459" cy="2594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r>
              <a:rPr lang="en-US" altLang="en-US" sz="1200" dirty="0"/>
              <a:t>Profile Screen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48188" y="47148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/>
          <p:cNvSpPr txBox="1"/>
          <p:nvPr/>
        </p:nvSpPr>
        <p:spPr>
          <a:xfrm>
            <a:off x="3518976" y="298169"/>
            <a:ext cx="4038601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ea typeface="+mj-ea"/>
                <a:cs typeface="Palatino Linotype" panose="02040502050505030304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IN" sz="2400" spc="-10" dirty="0">
                <a:solidFill>
                  <a:srgbClr val="FFFFFF"/>
                </a:solidFill>
              </a:rPr>
              <a:t>DATASET &amp; TOOLS</a:t>
            </a:r>
            <a:endParaRPr lang="en-IN" sz="2400" dirty="0"/>
          </a:p>
        </p:txBody>
      </p:sp>
      <p:pic>
        <p:nvPicPr>
          <p:cNvPr id="9" name="object 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636712" y="1165201"/>
            <a:ext cx="9073008" cy="678288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 :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with Express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&amp; Testing Tools 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Thunder Client (API Testing)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Compass</a:t>
            </a:r>
          </a:p>
          <a:p>
            <a:pPr>
              <a:lnSpc>
                <a:spcPct val="150000"/>
              </a:lnSpc>
            </a:pP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48188" y="47148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4"/>
          <p:cNvSpPr txBox="1"/>
          <p:nvPr/>
        </p:nvSpPr>
        <p:spPr>
          <a:xfrm>
            <a:off x="704340" y="1402569"/>
            <a:ext cx="8991600" cy="414023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This project proposes a practical and scalable digital rental marketplace platform aimed at addressing the limitations of existing rental systems in Tier-2 and Tier-3 cities. By offering a unified, transparent, and vendor-friendly solution, the platform simplifies access to rental services for users while enhancing digital visibility and operational efficiency for local vendors. </a:t>
            </a:r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proposed system demonstrates how an application-oriented software design can effectively organize fragmented markets and provide a reliable solution to real-world challenges within the sharing economy.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/>
            </a:endParaRPr>
          </a:p>
        </p:txBody>
      </p:sp>
      <p:sp>
        <p:nvSpPr>
          <p:cNvPr id="11" name="object 9"/>
          <p:cNvSpPr txBox="1"/>
          <p:nvPr/>
        </p:nvSpPr>
        <p:spPr>
          <a:xfrm>
            <a:off x="4066920" y="346454"/>
            <a:ext cx="1924560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ea typeface="+mj-ea"/>
                <a:cs typeface="Palatino Linotype" panose="02040502050505030304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IN" sz="1950" spc="-10" dirty="0">
                <a:solidFill>
                  <a:srgbClr val="FFFFFF"/>
                </a:solidFill>
              </a:rPr>
              <a:t>CONCLUSION</a:t>
            </a:r>
            <a:endParaRPr lang="en-IN" sz="1950" dirty="0"/>
          </a:p>
        </p:txBody>
      </p:sp>
      <p:pic>
        <p:nvPicPr>
          <p:cNvPr id="9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048000"/>
            <a:ext cx="9372601" cy="1538883"/>
          </a:xfrm>
        </p:spPr>
        <p:txBody>
          <a:bodyPr/>
          <a:lstStyle/>
          <a:p>
            <a:r>
              <a:rPr lang="en-US" sz="8000" dirty="0">
                <a:solidFill>
                  <a:schemeClr val="accent1"/>
                </a:solidFill>
              </a:rPr>
              <a:t>   </a:t>
            </a:r>
            <a:r>
              <a:rPr lang="en-US" sz="10000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  <a:endParaRPr lang="en-IN" sz="10000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902</Words>
  <Application>Microsoft Office PowerPoint</Application>
  <PresentationFormat>Custom</PresentationFormat>
  <Paragraphs>168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Palatino Linotype</vt:lpstr>
      <vt:lpstr>Times New Roman</vt:lpstr>
      <vt:lpstr>Office Theme</vt:lpstr>
      <vt:lpstr>Third Project Review</vt:lpstr>
      <vt:lpstr>PowerPoint Presentation</vt:lpstr>
      <vt:lpstr>ABSTRACT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SUCHANDRA ETTI</dc:creator>
  <cp:lastModifiedBy>Suchandra .</cp:lastModifiedBy>
  <cp:revision>31</cp:revision>
  <dcterms:created xsi:type="dcterms:W3CDTF">2025-10-10T08:28:00Z</dcterms:created>
  <dcterms:modified xsi:type="dcterms:W3CDTF">2026-04-08T07:18:08Z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2025-09-12T11:00:00Z</vt:filetime>
  </property>
  <property fmtid="{D5CDD505-2E9C-101B-9397-08002B2CF9AE}" pid="3" name="LastSaved">
    <vt:filetime>2025-10-10T11:00:00Z</vt:filetime>
  </property>
  <property fmtid="{D5CDD505-2E9C-101B-9397-08002B2CF9AE}" pid="4" name="ICV">
    <vt:lpwstr>27263F92C3AB4D38B87879C270328E19_12</vt:lpwstr>
  </property>
  <property fmtid="{D5CDD505-2E9C-101B-9397-08002B2CF9AE}" pid="5" name="KSOProductBuildVer">
    <vt:lpwstr>1033-12.2.0.23196</vt:lpwstr>
  </property>
</Properties>
</file>