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7" r:id="rId2"/>
    <p:sldId id="264" r:id="rId3"/>
    <p:sldId id="280" r:id="rId4"/>
    <p:sldId id="281" r:id="rId5"/>
    <p:sldId id="259" r:id="rId6"/>
    <p:sldId id="262" r:id="rId7"/>
    <p:sldId id="286" r:id="rId8"/>
    <p:sldId id="275" r:id="rId9"/>
    <p:sldId id="263" r:id="rId10"/>
    <p:sldId id="284" r:id="rId11"/>
    <p:sldId id="287" r:id="rId12"/>
    <p:sldId id="285" r:id="rId1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1" d="100"/>
          <a:sy n="111" d="100"/>
        </p:scale>
        <p:origin x="129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5EE2C-3245-4680-9C1E-5FA47D5388EA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362D6-2CCC-4180-BBCE-291188C2CC8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362D6-2CCC-4180-BBCE-291188C2CC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66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9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9.jpeg"/><Relationship Id="rId4" Type="http://schemas.openxmlformats.org/officeDocument/2006/relationships/image" Target="../media/image12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288" y="381000"/>
            <a:ext cx="3356471" cy="4576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5137" y="1162609"/>
            <a:ext cx="2368125" cy="285400"/>
          </a:xfrm>
          <a:prstGeom prst="rect">
            <a:avLst/>
          </a:prstGeom>
        </p:spPr>
        <p:txBody>
          <a:bodyPr vert="horz" wrap="square" lIns="0" tIns="8320" rIns="0" bIns="0" rtlCol="0" anchor="ctr">
            <a:spAutoFit/>
          </a:bodyPr>
          <a:lstStyle/>
          <a:p>
            <a:pPr marL="9525" algn="ctr">
              <a:spcBef>
                <a:spcPts val="65"/>
              </a:spcBef>
            </a:pPr>
            <a:r>
              <a:rPr lang="en-IN" sz="1800" spc="-7" dirty="0"/>
              <a:t>First Project Review</a:t>
            </a:r>
            <a:endParaRPr sz="1800" spc="-7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822266" y="2057400"/>
            <a:ext cx="6370513" cy="5675225"/>
          </a:xfrm>
          <a:prstGeom prst="rect">
            <a:avLst/>
          </a:prstGeom>
        </p:spPr>
        <p:txBody>
          <a:bodyPr vert="horz" wrap="square" lIns="0" tIns="12019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lang="en-US" sz="2000" dirty="0"/>
              <a:t>One-Stop Digital Rental Marketplace Platform</a:t>
            </a:r>
          </a:p>
          <a:p>
            <a:pPr algn="ctr">
              <a:spcBef>
                <a:spcPts val="95"/>
              </a:spcBef>
            </a:pPr>
            <a:endParaRPr lang="en-US" sz="1800" dirty="0"/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sz="1800" dirty="0">
                <a:solidFill>
                  <a:srgbClr val="FF0000"/>
                </a:solidFill>
              </a:rPr>
              <a:t>Presented</a:t>
            </a:r>
            <a:r>
              <a:rPr sz="1800" spc="59" dirty="0">
                <a:solidFill>
                  <a:srgbClr val="FF0000"/>
                </a:solidFill>
              </a:rPr>
              <a:t> </a:t>
            </a:r>
            <a:r>
              <a:rPr sz="1800" spc="-18" dirty="0">
                <a:solidFill>
                  <a:srgbClr val="FF0000"/>
                </a:solidFill>
              </a:rPr>
              <a:t>b</a:t>
            </a:r>
            <a:r>
              <a:rPr lang="en-US" sz="1800" spc="-18" dirty="0">
                <a:solidFill>
                  <a:srgbClr val="FF0000"/>
                </a:solidFill>
              </a:rPr>
              <a:t>y</a:t>
            </a:r>
            <a:endParaRPr lang="en-IN" sz="1800" spc="-18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Bachala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Prudvi Satya Teja   (22A91A0565)</a:t>
            </a:r>
          </a:p>
          <a:p>
            <a:pPr algn="ctr">
              <a:spcBef>
                <a:spcPts val="54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Etti S n v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v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Suchandra          (22A91A057</a:t>
            </a:r>
            <a:r>
              <a:rPr lang="en-US" alt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0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spcBef>
                <a:spcPts val="54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Sandip Pal                               (22A91A0561)</a:t>
            </a: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algn="ctr">
              <a:spcBef>
                <a:spcPts val="725"/>
              </a:spcBef>
            </a:pPr>
            <a:r>
              <a:rPr sz="1800" dirty="0">
                <a:solidFill>
                  <a:srgbClr val="943735"/>
                </a:solidFill>
              </a:rPr>
              <a:t>Department</a:t>
            </a:r>
            <a:r>
              <a:rPr sz="1800" spc="-44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of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Computer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Science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&amp;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spc="-7" dirty="0">
                <a:solidFill>
                  <a:srgbClr val="943735"/>
                </a:solidFill>
              </a:rPr>
              <a:t>Engineering</a:t>
            </a: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r>
              <a:rPr lang="en-IN" sz="1800" spc="-7" dirty="0">
                <a:solidFill>
                  <a:srgbClr val="FF0000"/>
                </a:solidFill>
              </a:rPr>
              <a:t>Name of the Supervisor:</a:t>
            </a:r>
          </a:p>
          <a:p>
            <a:pPr algn="ctr">
              <a:spcBef>
                <a:spcPts val="725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Mr. UV Ramesh </a:t>
            </a:r>
            <a:r>
              <a:rPr lang="en-IN" sz="1600" spc="-15" dirty="0" err="1">
                <a:solidFill>
                  <a:srgbClr val="17375E"/>
                </a:solidFill>
              </a:rPr>
              <a:t>M.Tech</a:t>
            </a:r>
            <a:r>
              <a:rPr lang="en-IN" sz="1600" spc="-15" dirty="0">
                <a:solidFill>
                  <a:srgbClr val="17375E"/>
                </a:solidFill>
              </a:rPr>
              <a:t>(</a:t>
            </a:r>
            <a:r>
              <a:rPr lang="en-IN" sz="1600" spc="-15" dirty="0" err="1">
                <a:solidFill>
                  <a:srgbClr val="17375E"/>
                </a:solidFill>
              </a:rPr>
              <a:t>Ph.D</a:t>
            </a:r>
            <a:r>
              <a:rPr lang="en-IN" sz="1600" spc="-15" dirty="0">
                <a:solidFill>
                  <a:srgbClr val="17375E"/>
                </a:solidFill>
              </a:rPr>
              <a:t>) </a:t>
            </a:r>
          </a:p>
          <a:p>
            <a:pPr algn="ctr">
              <a:spcBef>
                <a:spcPts val="725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99986" y="1728049"/>
            <a:ext cx="6858000" cy="4947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 panose="02040503050406030204"/>
              <a:buAutoNum type="arabicPeriod"/>
              <a:tabLst>
                <a:tab pos="389890" algn="l"/>
              </a:tabLst>
            </a:pPr>
            <a:r>
              <a:rPr lang="en-US" sz="1950" spc="-10" dirty="0">
                <a:latin typeface="Cambria" panose="02040503050406030204"/>
                <a:cs typeface="Cambria" panose="02040503050406030204"/>
              </a:rPr>
              <a:t>Abstract</a:t>
            </a:r>
            <a:endParaRPr lang="en-US" sz="1950" dirty="0">
              <a:latin typeface="Cambria" panose="02040503050406030204"/>
              <a:cs typeface="Cambria" panose="02040503050406030204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sz="1950" dirty="0">
                <a:latin typeface="Cambria" panose="02040503050406030204"/>
                <a:cs typeface="Cambria" panose="02040503050406030204"/>
              </a:rPr>
              <a:t>Introduction To The Domain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sz="1950" dirty="0">
                <a:latin typeface="Cambria" panose="02040503050406030204"/>
                <a:cs typeface="Cambria" panose="02040503050406030204"/>
              </a:rPr>
              <a:t>Literature Survey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dirty="0">
                <a:latin typeface="Cambria" panose="02040503050406030204"/>
                <a:cs typeface="Cambria" panose="02040503050406030204"/>
              </a:rPr>
              <a:t>Merits  And Demerits In Previous Methods</a:t>
            </a:r>
            <a:endParaRPr lang="en-US" sz="1950" dirty="0">
              <a:latin typeface="Cambria" panose="02040503050406030204"/>
              <a:cs typeface="Cambria" panose="02040503050406030204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spc="50" dirty="0">
                <a:latin typeface="Cambria" panose="02040503050406030204"/>
                <a:cs typeface="Cambria" panose="02040503050406030204"/>
              </a:rPr>
              <a:t>Problem Statement</a:t>
            </a:r>
            <a:endParaRPr lang="en-US" sz="1950" spc="50" dirty="0">
              <a:latin typeface="Cambria" panose="02040503050406030204"/>
              <a:cs typeface="Cambria" panose="02040503050406030204"/>
            </a:endParaRP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Cambria" panose="02040503050406030204"/>
                <a:cs typeface="Cambria" panose="02040503050406030204"/>
              </a:rPr>
              <a:t>Architecture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Cambria" panose="02040503050406030204"/>
                <a:cs typeface="Cambria" panose="02040503050406030204"/>
              </a:rPr>
              <a:t>Technologies Used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Cambria" panose="02040503050406030204"/>
                <a:cs typeface="Cambria" panose="02040503050406030204"/>
              </a:rPr>
              <a:t>Conclusion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endParaRPr lang="en-GB" sz="1950" spc="50" dirty="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9" name="object 3"/>
          <p:cNvGrpSpPr/>
          <p:nvPr/>
        </p:nvGrpSpPr>
        <p:grpSpPr>
          <a:xfrm>
            <a:off x="2667000" y="152400"/>
            <a:ext cx="5197429" cy="1288015"/>
            <a:chOff x="2648188" y="47148"/>
            <a:chExt cx="5103904" cy="1198311"/>
          </a:xfrm>
        </p:grpSpPr>
        <p:pic>
          <p:nvPicPr>
            <p:cNvPr id="10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2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3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+mj-lt"/>
                  <a:ea typeface="Cambria" panose="02040503050406030204" pitchFamily="18" charset="0"/>
                  <a:cs typeface="Times New Roman" pitchFamily="18" charset="0"/>
                </a:rPr>
                <a:t>OUTLINE OF THE TALK</a:t>
              </a:r>
              <a:endParaRPr sz="2800" dirty="0">
                <a:solidFill>
                  <a:schemeClr val="bg1"/>
                </a:solidFill>
                <a:latin typeface="+mj-lt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pic>
        <p:nvPicPr>
          <p:cNvPr id="2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688" y="40579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37614" y="304918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ABSTRACT</a:t>
            </a:r>
            <a:endParaRPr sz="1950" dirty="0"/>
          </a:p>
        </p:txBody>
      </p:sp>
      <p:sp>
        <p:nvSpPr>
          <p:cNvPr id="2" name="object 4"/>
          <p:cNvSpPr txBox="1"/>
          <p:nvPr/>
        </p:nvSpPr>
        <p:spPr>
          <a:xfrm>
            <a:off x="742440" y="1340744"/>
            <a:ext cx="8915400" cy="498982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dirty="0"/>
              <a:t>The rapid growth of the sharing economy has increased the demand for rental services; however, organized rental platforms are mostly limited to metropolitan cities. Users in Tier-2 and Tier-3 cities face difficulties in finding reliable rental services, while local vendors struggle with visibility and customer reach.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dirty="0"/>
              <a:t>This project proposes  a one-stop digital rental marketplace platform that connects users with verified local vendors for renting items such as bikes, cars, furniture, electronics, and home appliances. </a:t>
            </a:r>
            <a:br>
              <a:rPr lang="en-US" dirty="0"/>
            </a:br>
            <a:endParaRPr 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dirty="0"/>
              <a:t>The system focuses on transparency, ease of access, and vendor empowerment through a commission-free model. This aims to provide a secure and scalable platform that simplifies the rental process for users while supporting local businesses</a:t>
            </a:r>
            <a:endParaRPr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057A6892-9D79-C22E-B3A9-CAB347C2C14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706278" y="1078668"/>
            <a:ext cx="8991600" cy="5015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WEB APPLICATION DEVELOPMENT AND DIGITAL MARKETPLACE SYSTEMS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alt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Digital marketplace platforms enable users and service providers to interact through centralized online systems. Such platforms play a crucial role in organizing unstructured markets by providing search, booking, and trust mechanisms.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This project falls under application-oriented system development, where modern web technologies are used to design and implement a scalable rental marketplace. The focus is on system architecture, usability, and real-world problem solving rather than algorithmic research.</a:t>
            </a:r>
            <a:endParaRPr lang="en-US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3237245" y="346454"/>
            <a:ext cx="392579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INTRODUCTION TO DOMAIN</a:t>
            </a:r>
            <a:endParaRPr lang="en-IN" sz="1950" dirty="0"/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90A0537E-B714-3879-F558-DCDA6D85FBD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962" y="1475966"/>
            <a:ext cx="7753759" cy="4758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lvl="1"/>
            <a:r>
              <a:rPr lang="en-US" sz="2000" b="1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Peer-to-Peer Rental Markets in the Sharing Economy </a:t>
            </a:r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(2016)</a:t>
            </a:r>
          </a:p>
          <a:p>
            <a:pPr lvl="1"/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Highlights the role of trust and pricing models in rental platforms.</a:t>
            </a:r>
          </a:p>
          <a:p>
            <a:pPr lvl="1"/>
            <a:endParaRPr lang="en-US" sz="2000" dirty="0">
              <a:solidFill>
                <a:srgbClr val="272D45"/>
              </a:solidFill>
              <a:latin typeface="Cambria" panose="02040503050406030204" pitchFamily="18" charset="0"/>
              <a:ea typeface="Cambria" panose="02040503050406030204" pitchFamily="18" charset="0"/>
              <a:cs typeface="Kanit Light" pitchFamily="34" charset="-120"/>
            </a:endParaRPr>
          </a:p>
          <a:p>
            <a:pPr lvl="1"/>
            <a:r>
              <a:rPr lang="en-US" sz="2000" b="1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A Survey on Online Renting Platforms </a:t>
            </a:r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(2021)</a:t>
            </a:r>
          </a:p>
          <a:p>
            <a:pPr lvl="1"/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Discusses limitations of existing rental systems and lack of multi-category integration.</a:t>
            </a:r>
          </a:p>
          <a:p>
            <a:pPr lvl="1"/>
            <a:endParaRPr lang="en-US" sz="2000" dirty="0">
              <a:solidFill>
                <a:srgbClr val="272D45"/>
              </a:solidFill>
              <a:latin typeface="Cambria" panose="02040503050406030204" pitchFamily="18" charset="0"/>
              <a:ea typeface="Cambria" panose="02040503050406030204" pitchFamily="18" charset="0"/>
              <a:cs typeface="Kanit Light" pitchFamily="34" charset="-120"/>
            </a:endParaRPr>
          </a:p>
          <a:p>
            <a:pPr lvl="1"/>
            <a:r>
              <a:rPr lang="en-US" sz="2000" b="1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Rent Ease – A Modern Rental Platform </a:t>
            </a:r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(2024)</a:t>
            </a:r>
          </a:p>
          <a:p>
            <a:pPr lvl="1"/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Proposes a rental platform but focuses mainly on urban areas.</a:t>
            </a:r>
          </a:p>
          <a:p>
            <a:pPr lvl="1"/>
            <a:endParaRPr lang="en-US" sz="2000" dirty="0">
              <a:solidFill>
                <a:srgbClr val="272D45"/>
              </a:solidFill>
              <a:latin typeface="Cambria" panose="02040503050406030204" pitchFamily="18" charset="0"/>
              <a:ea typeface="Cambria" panose="02040503050406030204" pitchFamily="18" charset="0"/>
              <a:cs typeface="Kanit Light" pitchFamily="34" charset="-120"/>
            </a:endParaRPr>
          </a:p>
          <a:p>
            <a:pPr lvl="1"/>
            <a:r>
              <a:rPr lang="en-US" sz="2000" b="1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Competitive Strategy in Online Rental Systems </a:t>
            </a:r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(2024)</a:t>
            </a:r>
          </a:p>
          <a:p>
            <a:pPr lvl="1"/>
            <a:r>
              <a:rPr lang="en-US" sz="2000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Analyzes commission-based models and their impact on vendor participation.</a:t>
            </a:r>
          </a:p>
          <a:p>
            <a:pPr>
              <a:lnSpc>
                <a:spcPts val="3745"/>
              </a:lnSpc>
            </a:pPr>
            <a:endParaRPr lang="en-US" dirty="0">
              <a:solidFill>
                <a:srgbClr val="272D45"/>
              </a:solidFill>
              <a:latin typeface="Cambria" panose="02040503050406030204" pitchFamily="18" charset="0"/>
              <a:ea typeface="Cambria" panose="02040503050406030204" pitchFamily="18" charset="0"/>
              <a:cs typeface="Kanit Light" pitchFamily="34" charset="-120"/>
            </a:endParaRPr>
          </a:p>
          <a:p>
            <a:pPr>
              <a:lnSpc>
                <a:spcPts val="3745"/>
              </a:lnSpc>
            </a:pPr>
            <a:r>
              <a:rPr lang="en-US" b="1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Observation:</a:t>
            </a:r>
          </a:p>
          <a:p>
            <a:pPr>
              <a:lnSpc>
                <a:spcPts val="3745"/>
              </a:lnSpc>
            </a:pPr>
            <a:r>
              <a:rPr lang="en-US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Most existing platforms focus on specific rental categories and metropolitan users.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2962" y="2256294"/>
            <a:ext cx="8992478" cy="4042350"/>
          </a:xfrm>
          <a:prstGeom prst="roundRect">
            <a:avLst>
              <a:gd name="adj" fmla="val 158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34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5" name="object 3">
            <a:extLst>
              <a:ext uri="{FF2B5EF4-FFF2-40B4-BE49-F238E27FC236}">
                <a16:creationId xmlns:a16="http://schemas.microsoft.com/office/drawing/2014/main" id="{B77180DB-7E99-DAE3-31FA-B9B7FF04452C}"/>
              </a:ext>
            </a:extLst>
          </p:cNvPr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36" name="object 4">
              <a:extLst>
                <a:ext uri="{FF2B5EF4-FFF2-40B4-BE49-F238E27FC236}">
                  <a16:creationId xmlns:a16="http://schemas.microsoft.com/office/drawing/2014/main" id="{F2A81C23-753F-32BF-FFD4-B2A2291E1A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37" name="object 5">
              <a:extLst>
                <a:ext uri="{FF2B5EF4-FFF2-40B4-BE49-F238E27FC236}">
                  <a16:creationId xmlns:a16="http://schemas.microsoft.com/office/drawing/2014/main" id="{EDA3511F-1F11-242A-7923-72A5594D57F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38" name="object 6">
              <a:extLst>
                <a:ext uri="{FF2B5EF4-FFF2-40B4-BE49-F238E27FC236}">
                  <a16:creationId xmlns:a16="http://schemas.microsoft.com/office/drawing/2014/main" id="{1E932EFD-B2AF-4721-8DEF-E8839513531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F9F94279-B7C9-DA9E-13E2-A6C48C85FA0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A62040D-B894-0998-9A85-0CBBAF8CC2EE}"/>
              </a:ext>
            </a:extLst>
          </p:cNvPr>
          <p:cNvSpPr txBox="1"/>
          <p:nvPr/>
        </p:nvSpPr>
        <p:spPr>
          <a:xfrm>
            <a:off x="2883931" y="306505"/>
            <a:ext cx="4355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685800" y="920766"/>
            <a:ext cx="8686800" cy="59721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Merits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Easy access in metropolitan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Availability of single-category rentals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Online booking support</a:t>
            </a:r>
          </a:p>
          <a:p>
            <a:pPr>
              <a:lnSpc>
                <a:spcPct val="15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Demerits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High commission charges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Limited presence in Tier-2 &amp; Tier-3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Poor support for local vendors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Lack of unified multi-category rental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Limited transparency and analytics</a:t>
            </a:r>
          </a:p>
        </p:txBody>
      </p:sp>
      <p:sp>
        <p:nvSpPr>
          <p:cNvPr id="11" name="object 9"/>
          <p:cNvSpPr txBox="1"/>
          <p:nvPr/>
        </p:nvSpPr>
        <p:spPr>
          <a:xfrm>
            <a:off x="3539245" y="346454"/>
            <a:ext cx="3348734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MERITS AND  DEMERITS</a:t>
            </a:r>
            <a:endParaRPr lang="en-IN" sz="1950" dirty="0"/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4157D6CD-16A6-37AB-881F-FF27BA5D528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666AB-27D7-EC53-DC4F-CC00E41B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6CE1D50-9E9B-A993-B8C1-841129138847}"/>
              </a:ext>
            </a:extLst>
          </p:cNvPr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4B0C4EB-440C-EEB8-30B3-C82633538C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3EA393F-4F3E-EF1B-84F3-61DA8161CBF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98D38EB-18BB-CB0D-69D8-C939763D895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91F0082-9E6B-DDF0-2253-1ACE95783D5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0DA3EE9D-CC0A-76A2-6EF0-AB55A5A30675}"/>
              </a:ext>
            </a:extLst>
          </p:cNvPr>
          <p:cNvSpPr txBox="1"/>
          <p:nvPr/>
        </p:nvSpPr>
        <p:spPr>
          <a:xfrm>
            <a:off x="685800" y="920766"/>
            <a:ext cx="8686800" cy="52488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Users in Tier-2 and Tier-3 cities face difficulties in accessing reliable rental services due to fragmented local markets, lack of trust mechanisms, and the absence of centralized digital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At the same time, local rental vendors struggle with low visibility, high marketing costs, and limited digital reach, which restricts their ability to attract customers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rental platforms are largely single-category, commission-based, and focused on metropolitan areas, making them unsuitable for addressing the needs of smaller 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Therefore, there is a need for a unified, transparent, and user-friendly digital rental marketplace that supports multi-category rentals and enables efficient interaction between users and vendors while ensuring accessibility and trust.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1F88DCF-1876-ED5C-716F-720B9B167553}"/>
              </a:ext>
            </a:extLst>
          </p:cNvPr>
          <p:cNvSpPr txBox="1"/>
          <p:nvPr/>
        </p:nvSpPr>
        <p:spPr>
          <a:xfrm>
            <a:off x="3539245" y="346454"/>
            <a:ext cx="3348734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PROBLEM STATEMENT</a:t>
            </a:r>
            <a:endParaRPr lang="en-IN" sz="1950" dirty="0"/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59E920DC-78CB-9BD2-D906-AF612C68FCB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52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880" y="1538013"/>
            <a:ext cx="3378011" cy="4222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45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Key Features</a:t>
            </a:r>
            <a:endParaRPr lang="en-US" sz="264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79" y="2230427"/>
            <a:ext cx="405349" cy="405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880" y="2804644"/>
            <a:ext cx="1732634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Multi-Category Listings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2880" y="3096704"/>
            <a:ext cx="4471846" cy="432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Bikes, cars, furniture, electronics, home appliances in one unified platform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593" y="2230427"/>
            <a:ext cx="405349" cy="405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3593" y="2804644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Advanced Search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13594" y="3096704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Intelligent filtering by location, price, availability, and category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79" y="3799270"/>
            <a:ext cx="405349" cy="4053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2879" y="4373486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Secure Booking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72880" y="4665546"/>
            <a:ext cx="4471846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Real-time availability, instant confirmations, automated scheduling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593" y="3799270"/>
            <a:ext cx="405349" cy="4053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13593" y="4373486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Review System  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113594" y="4665546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AI Assistant &amp; Verified ratings building trust and accountability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79" y="5151931"/>
            <a:ext cx="405349" cy="4053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2879" y="5726148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Vendor Dashboard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72880" y="6018208"/>
            <a:ext cx="4471846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Comprehensive analytics, inventory management, customer insights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3593" y="5151931"/>
            <a:ext cx="405349" cy="4053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13593" y="5726148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AI Chatbot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113594" y="6018208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AI-assisted support for user queries and navigation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23" name="object 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9" name="object 3">
            <a:extLst>
              <a:ext uri="{FF2B5EF4-FFF2-40B4-BE49-F238E27FC236}">
                <a16:creationId xmlns:a16="http://schemas.microsoft.com/office/drawing/2014/main" id="{9292DD39-D0A9-F9DD-9309-8C2EBFE05984}"/>
              </a:ext>
            </a:extLst>
          </p:cNvPr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30" name="object 4">
              <a:extLst>
                <a:ext uri="{FF2B5EF4-FFF2-40B4-BE49-F238E27FC236}">
                  <a16:creationId xmlns:a16="http://schemas.microsoft.com/office/drawing/2014/main" id="{AF22D939-28B4-C1D6-0754-CCC21D653595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31" name="object 5">
              <a:extLst>
                <a:ext uri="{FF2B5EF4-FFF2-40B4-BE49-F238E27FC236}">
                  <a16:creationId xmlns:a16="http://schemas.microsoft.com/office/drawing/2014/main" id="{22787D5C-926A-174D-DAED-50DD02EA8A5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32" name="object 6">
              <a:extLst>
                <a:ext uri="{FF2B5EF4-FFF2-40B4-BE49-F238E27FC236}">
                  <a16:creationId xmlns:a16="http://schemas.microsoft.com/office/drawing/2014/main" id="{286502D0-4DA4-DE54-1F7B-160130D4C1A9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33" name="object 7">
              <a:extLst>
                <a:ext uri="{FF2B5EF4-FFF2-40B4-BE49-F238E27FC236}">
                  <a16:creationId xmlns:a16="http://schemas.microsoft.com/office/drawing/2014/main" id="{F4906237-9105-E7E0-A871-BEB997BB6B1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4" name="object 9">
            <a:extLst>
              <a:ext uri="{FF2B5EF4-FFF2-40B4-BE49-F238E27FC236}">
                <a16:creationId xmlns:a16="http://schemas.microsoft.com/office/drawing/2014/main" id="{E30201FD-86E7-015B-3044-0E6EA8E6E7CC}"/>
              </a:ext>
            </a:extLst>
          </p:cNvPr>
          <p:cNvSpPr txBox="1"/>
          <p:nvPr/>
        </p:nvSpPr>
        <p:spPr>
          <a:xfrm>
            <a:off x="3878800" y="315825"/>
            <a:ext cx="2643698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PROPOSED SYSTEM</a:t>
            </a:r>
            <a:endParaRPr lang="en-IN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704340" y="1402569"/>
            <a:ext cx="8991600" cy="4625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b="1" dirty="0"/>
              <a:t>Presentation Layer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Web and/or mobile user interfaces that allow users and vendors to interact with the platform for browsing, booking, and managing rentals.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dirty="0"/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b="1" dirty="0"/>
              <a:t>Application Layer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Backend services that handle business logic such as user authentication, rental listings, booking management, and communication between users and vendors.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dirty="0"/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b="1" dirty="0"/>
              <a:t>Data Layer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Database system responsible for storing user details, vendor information, rental items, booking records, and reviews securely.</a:t>
            </a:r>
            <a:endParaRPr lang="en-US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3407447" y="332794"/>
            <a:ext cx="39624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SYSTEM ARCHITECTURE</a:t>
            </a:r>
            <a:endParaRPr lang="en-IN" sz="1950" dirty="0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83706003-8CEC-06E3-D6D2-EC0F4FE2031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7059E-2176-49A8-DD54-B236CCF3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F39DBEE-ACC5-4A63-C95D-D3345E451935}"/>
              </a:ext>
            </a:extLst>
          </p:cNvPr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AA78823-C2A4-4D34-B493-8B64E2A493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8B261EC-C5B9-5B55-11DB-F14676E8985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5CA5A4EB-3AE3-769D-CFFE-4C9A26241D2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A2E63FF-A46A-A1E7-BE53-773F9B05DF5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9ED6040B-F590-8348-CD21-F39E8C16243C}"/>
              </a:ext>
            </a:extLst>
          </p:cNvPr>
          <p:cNvSpPr txBox="1"/>
          <p:nvPr/>
        </p:nvSpPr>
        <p:spPr>
          <a:xfrm>
            <a:off x="704340" y="1402569"/>
            <a:ext cx="8991600" cy="51866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altLang="en-US" b="1" dirty="0"/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b="1" dirty="0"/>
              <a:t>Frontend: </a:t>
            </a:r>
            <a:r>
              <a:rPr lang="en-US" altLang="en-US" sz="2000" dirty="0"/>
              <a:t>React.js / Flutter</a:t>
            </a:r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/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b="1" dirty="0"/>
              <a:t>Backend: </a:t>
            </a:r>
            <a:r>
              <a:rPr lang="en-US" altLang="en-US" sz="2000" dirty="0"/>
              <a:t>Node.js, Express.js</a:t>
            </a:r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/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b="1" dirty="0"/>
              <a:t>Database: </a:t>
            </a:r>
            <a:r>
              <a:rPr lang="en-US" altLang="en-US" sz="2000" dirty="0"/>
              <a:t>MongoDB</a:t>
            </a:r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/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b="1" dirty="0"/>
              <a:t>Authentication: </a:t>
            </a:r>
            <a:r>
              <a:rPr lang="en-US" altLang="en-US" sz="2000" dirty="0"/>
              <a:t>Firebase Authentication</a:t>
            </a:r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/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b="1" dirty="0"/>
              <a:t>Hosting: </a:t>
            </a:r>
            <a:r>
              <a:rPr lang="en-US" altLang="en-US" sz="2000" dirty="0"/>
              <a:t>AWS / Firebase</a:t>
            </a:r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/>
          </a:p>
          <a:p>
            <a:pPr marL="355600" indent="-342900"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dirty="0">
                <a:latin typeface="Cambria" panose="02040503050406030204"/>
                <a:cs typeface="Cambria" panose="02040503050406030204"/>
              </a:rPr>
              <a:t>Algorithms / Techniques :</a:t>
            </a:r>
            <a:endParaRPr lang="en-US" sz="20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Wingdings" panose="05000000000000000000" pitchFamily="2" charset="2"/>
              <a:buChar char="ü"/>
              <a:tabLst>
                <a:tab pos="389890" algn="l"/>
              </a:tabLst>
            </a:pPr>
            <a:r>
              <a:rPr lang="en-US" sz="2000" dirty="0">
                <a:latin typeface="Cambria" panose="02040503050406030204"/>
                <a:cs typeface="Cambria" panose="02040503050406030204"/>
              </a:rPr>
              <a:t>Cosine Similarity – for basic item recommendation based on user preferences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Wingdings" panose="05000000000000000000" pitchFamily="2" charset="2"/>
              <a:buChar char="ü"/>
              <a:tabLst>
                <a:tab pos="389890" algn="l"/>
              </a:tabLst>
            </a:pPr>
            <a:r>
              <a:rPr lang="en-US" sz="2000" dirty="0">
                <a:latin typeface="Cambria" panose="02040503050406030204"/>
                <a:cs typeface="Cambria" panose="02040503050406030204"/>
              </a:rPr>
              <a:t>Linear Regression – for analyzing rental trends and pricing patterns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Wingdings" panose="05000000000000000000" pitchFamily="2" charset="2"/>
              <a:buChar char="ü"/>
              <a:tabLst>
                <a:tab pos="389890" algn="l"/>
              </a:tabLst>
            </a:pPr>
            <a:r>
              <a:rPr lang="en-US" sz="2000" dirty="0">
                <a:latin typeface="Cambria" panose="02040503050406030204"/>
                <a:cs typeface="Cambria" panose="02040503050406030204"/>
              </a:rPr>
              <a:t> Logistic Regression – for basic prediction tasks such as booking likelihood</a:t>
            </a:r>
            <a:endParaRPr sz="20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222DFE8-D738-CF3C-DC82-D17234584013}"/>
              </a:ext>
            </a:extLst>
          </p:cNvPr>
          <p:cNvSpPr txBox="1"/>
          <p:nvPr/>
        </p:nvSpPr>
        <p:spPr>
          <a:xfrm>
            <a:off x="2971799" y="357464"/>
            <a:ext cx="4038601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600" spc="-10" dirty="0">
                <a:solidFill>
                  <a:srgbClr val="FFFFFF"/>
                </a:solidFill>
              </a:rPr>
              <a:t>TECHNOLOGIES / ALGORITHMS USED</a:t>
            </a:r>
            <a:endParaRPr lang="en-IN" sz="1600" dirty="0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91C804E2-E4AD-8582-511F-22D8A43168F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32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6CE3-185F-79B4-1772-CEDD8046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8D6C114-40E2-D013-2714-22CB47846350}"/>
              </a:ext>
            </a:extLst>
          </p:cNvPr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5AAA546-15EA-F3AE-B084-310960515FB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4E40C3F-8E01-775C-70FD-4EFA256A915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88B6B7E-13BE-8BDB-C79E-A0B0C24F0A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53A48AD-A501-0B74-07F8-AA210198EF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C8A40FD2-B405-B66A-F9B5-E56C3829FDE0}"/>
              </a:ext>
            </a:extLst>
          </p:cNvPr>
          <p:cNvSpPr txBox="1"/>
          <p:nvPr/>
        </p:nvSpPr>
        <p:spPr>
          <a:xfrm>
            <a:off x="704340" y="1402569"/>
            <a:ext cx="8991600" cy="41402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project proposes a practical and scalable digital rental marketplace platform aimed at addressing the limitations of existing rental systems in Tier-2 and Tier-3 cities. By offering a unified, transparent, and vendor-friendly solution, the platform simplifies access to rental services for users while enhancing digital visibility and operational efficiency for local vendors. 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proposed system demonstrates how an application-oriented software design can effectively organize fragmented markets and provide a reliable solution to real-world challenges within the sharing economy.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02DE777-BB0D-E72D-BC3E-E6B7D0432F09}"/>
              </a:ext>
            </a:extLst>
          </p:cNvPr>
          <p:cNvSpPr txBox="1"/>
          <p:nvPr/>
        </p:nvSpPr>
        <p:spPr>
          <a:xfrm>
            <a:off x="4066920" y="346454"/>
            <a:ext cx="192456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CONCLUSION</a:t>
            </a:r>
            <a:endParaRPr lang="en-IN" sz="1950" dirty="0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FBE18813-3558-1F52-D6D1-423F02BD53A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048000"/>
            <a:ext cx="9372601" cy="1538883"/>
          </a:xfrm>
        </p:spPr>
        <p:txBody>
          <a:bodyPr/>
          <a:lstStyle/>
          <a:p>
            <a:r>
              <a:rPr lang="en-US" sz="8000" dirty="0">
                <a:solidFill>
                  <a:schemeClr val="accent1"/>
                </a:solidFill>
              </a:rPr>
              <a:t>   </a:t>
            </a:r>
            <a:r>
              <a:rPr lang="en-US" sz="100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100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875</Words>
  <Application>Microsoft Office PowerPoint</Application>
  <PresentationFormat>Custom</PresentationFormat>
  <Paragraphs>130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Palatino Linotype</vt:lpstr>
      <vt:lpstr>Times New Roman</vt:lpstr>
      <vt:lpstr>Wingdings</vt:lpstr>
      <vt:lpstr>Office Theme</vt:lpstr>
      <vt:lpstr>First Project Review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RESHMA BASAPATHI</dc:creator>
  <cp:lastModifiedBy>Suchandra .</cp:lastModifiedBy>
  <cp:revision>20</cp:revision>
  <dcterms:created xsi:type="dcterms:W3CDTF">2025-10-10T08:28:00Z</dcterms:created>
  <dcterms:modified xsi:type="dcterms:W3CDTF">2025-12-26T08:20:18Z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2025-09-12T05:30:00Z</vt:filetime>
  </property>
  <property fmtid="{D5CDD505-2E9C-101B-9397-08002B2CF9AE}" pid="3" name="LastSaved">
    <vt:filetime>2025-10-10T05:30:00Z</vt:filetime>
  </property>
  <property fmtid="{D5CDD505-2E9C-101B-9397-08002B2CF9AE}" pid="4" name="ICV">
    <vt:lpwstr>27263F92C3AB4D38B87879C270328E19_12</vt:lpwstr>
  </property>
  <property fmtid="{D5CDD505-2E9C-101B-9397-08002B2CF9AE}" pid="5" name="KSOProductBuildVer">
    <vt:lpwstr>1033-12.2.0.22549</vt:lpwstr>
  </property>
</Properties>
</file>